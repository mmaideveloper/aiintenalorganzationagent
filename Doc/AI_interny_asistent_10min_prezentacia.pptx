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0:00–0:45. Začať cieľom a hranicou: asistent pomáha zamestnancom s internými informáciami, sumarizáciou a analýzou, ale nerozhoduje za človeka. Zdôrazniť enterprise kontext: bezpečnosť, governance, audit a realizovateľnosť.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0:45–2:00. Nečítať dokument. Vysvetliť hranice. Použiť vetu: cieľom nie je najinteligentnejší chatbot, ale bezpečný a auditovateľný enterprise asistent.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2:00. Rýchlo prejsť use cases. Zdôrazniť, že hodnota je v zrýchlení práce a konzistencii výstupov, nie v nahradení rozhodnutí.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2:00–4:00. Nezachádzať do každého boxu. Vysvetliť vrstvy: používateľská, security, orchestration, knowledge/integration, governance/quality. Kľúčová veta: LLM nerozhoduje o oprávneniach.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4:00–5:00. Ukázať tok ako kontrolnú postupnosť. Povedať: nestačí rýchla odpoveď; v enterprise riešení je dôležité, či bola odpoveď povolená, podložená a auditovateľná.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5:30–6:45. Toto je najdôležitejšia bezpečnostná časť. Vysvetliť, že filtrovanie po odpovedi nestačí. Model nesmie dostať nepovolený kontext.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6:45–7:45. Vysvetliť, ako by som meral správnosť: eval dataset, očakávané odpovede, groundedness, coverage, bezpečnosť, použiteľnosť. Dôležité: confidence nie je jedna pravda.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7:45–8:45. Ukázať, že nejde len o Azure alebo model. Odporúčanie je hybrid: kvalita tam, kde je bezpečné použiť cloud/enterprise model; kontrola tam, kde sú citlivé dáta.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8:45–10:00. Roadmapa nie je fixný kalendár, ale exit kritériá. Záver: nenasadil by som bez ďalšieho overenia RAG nad citlivými dátami a agentické akcie. Ukončiť jasnou vetou o bezpečnom a auditovateľnom asistentovi.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14300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Interný AI asistent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04672" y="1874520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333333"/>
                </a:solidFill>
              </a:rPr>
              <a:t>Architektúra, bezpečnosť, governance a praktická realizovateľnosť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04672" y="234086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75B5"/>
                </a:solidFill>
              </a:rPr>
              <a:t>10-minútová obhajoba riešenia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549640" y="1508760"/>
            <a:ext cx="1965960" cy="1600200"/>
          </a:xfrm>
          <a:prstGeom prst="hexagon">
            <a:avLst/>
          </a:prstGeom>
          <a:solidFill>
            <a:srgbClr val="FFFFFF"/>
          </a:solidFill>
          <a:ln w="25400">
            <a:solidFill>
              <a:srgbClr val="2F75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88552" y="1911096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75B5"/>
                </a:solidFill>
              </a:rPr>
              <a:t>AI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35240" y="3995928"/>
            <a:ext cx="1234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Security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098280" y="3767328"/>
            <a:ext cx="10515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RAG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360152" y="3995928"/>
            <a:ext cx="10515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Audit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78240" y="3977640"/>
            <a:ext cx="320040" cy="-45720"/>
          </a:xfrm>
          <a:prstGeom prst="line">
            <a:avLst/>
          </a:prstGeom>
          <a:noFill/>
          <a:ln w="17780">
            <a:solidFill>
              <a:srgbClr val="9DC3E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149840" y="3931920"/>
            <a:ext cx="210312" cy="164592"/>
          </a:xfrm>
          <a:prstGeom prst="line">
            <a:avLst/>
          </a:prstGeom>
          <a:noFill/>
          <a:ln w="17780">
            <a:solidFill>
              <a:srgbClr val="9DC3E6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04672" y="5440680"/>
            <a:ext cx="95097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42"/>
                </a:solidFill>
              </a:rPr>
              <a:t>Kľúčová téza: bezpečný a auditovateľný asistent, nie autonómny rozhodovací systém.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Problém, cieľ a hranice riešenia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372600" y="46634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75B5"/>
                </a:solidFill>
              </a:rPr>
              <a:t>Cieľ a scope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633972"/>
            <a:ext cx="5943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10-min obhajoba návrhu | Interný AI asistent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11712" y="662482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5B5"/>
                </a:solidFill>
              </a:rPr>
              <a:t>02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1155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2"/>
                </a:solidFill>
              </a:rPr>
              <a:t>Čo má riešenie priniesť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4944" y="1581912"/>
            <a:ext cx="448056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520" dirty="0">
                <a:solidFill>
                  <a:srgbClr val="333333"/>
                </a:solidFill>
              </a:rPr>
              <a:t>Rýchlejšie vyhľadanie interných smerníc, metodík a procesov</a:t>
            </a:r>
            <a:endParaRPr lang="en-US" sz="1520" dirty="0"/>
          </a:p>
          <a:p>
            <a:r>
              <a:rPr lang="en-US" sz="1520" dirty="0">
                <a:solidFill>
                  <a:srgbClr val="333333"/>
                </a:solidFill>
              </a:rPr>
              <a:t>Sumarizácia informácií a návrhy odpovedí</a:t>
            </a:r>
            <a:endParaRPr lang="en-US" sz="1520" dirty="0"/>
          </a:p>
          <a:p>
            <a:r>
              <a:rPr lang="en-US" sz="1520" dirty="0">
                <a:solidFill>
                  <a:srgbClr val="333333"/>
                </a:solidFill>
              </a:rPr>
              <a:t>Podpora biznis analýzy: user stories, akceptačné kritériá, riziká</a:t>
            </a:r>
            <a:endParaRPr lang="en-US" sz="1520" dirty="0"/>
          </a:p>
          <a:p>
            <a:r>
              <a:rPr lang="en-US" sz="1520" dirty="0">
                <a:solidFill>
                  <a:srgbClr val="333333"/>
                </a:solidFill>
              </a:rPr>
              <a:t>Overiteľné odporúčania so zdrojmi a auditnou stopou</a:t>
            </a:r>
            <a:endParaRPr lang="en-US" sz="1520" dirty="0"/>
          </a:p>
        </p:txBody>
      </p:sp>
      <p:sp>
        <p:nvSpPr>
          <p:cNvPr id="10" name="Shape 8"/>
          <p:cNvSpPr/>
          <p:nvPr/>
        </p:nvSpPr>
        <p:spPr>
          <a:xfrm>
            <a:off x="5623560" y="1143000"/>
            <a:ext cx="0" cy="4434840"/>
          </a:xfrm>
          <a:prstGeom prst="line">
            <a:avLst/>
          </a:prstGeom>
          <a:noFill/>
          <a:ln w="12700">
            <a:solidFill>
              <a:srgbClr val="B7C9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11155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2"/>
                </a:solidFill>
              </a:rPr>
              <a:t>Čo riešenie nesmie robiť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26480" y="1581912"/>
            <a:ext cx="470916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520" dirty="0">
                <a:solidFill>
                  <a:srgbClr val="333333"/>
                </a:solidFill>
              </a:rPr>
              <a:t>Nerozhoduje automaticky za používateľa</a:t>
            </a:r>
            <a:endParaRPr lang="en-US" sz="1520" dirty="0"/>
          </a:p>
          <a:p>
            <a:r>
              <a:rPr lang="en-US" sz="1520" dirty="0">
                <a:solidFill>
                  <a:srgbClr val="333333"/>
                </a:solidFill>
              </a:rPr>
              <a:t>Neobchádza oprávnenia ani vlastníctvo dát</a:t>
            </a:r>
            <a:endParaRPr lang="en-US" sz="1520" dirty="0"/>
          </a:p>
          <a:p>
            <a:r>
              <a:rPr lang="en-US" sz="1520" dirty="0">
                <a:solidFill>
                  <a:srgbClr val="333333"/>
                </a:solidFill>
              </a:rPr>
              <a:t>Nemení produkčné dáta bez schválenia</a:t>
            </a:r>
            <a:endParaRPr lang="en-US" sz="1520" dirty="0"/>
          </a:p>
          <a:p>
            <a:r>
              <a:rPr lang="en-US" sz="1520" dirty="0">
                <a:solidFill>
                  <a:srgbClr val="333333"/>
                </a:solidFill>
              </a:rPr>
              <a:t>Neposkytuje nepodložené tvrdenia ako fakt</a:t>
            </a:r>
            <a:endParaRPr lang="en-US" sz="1520" dirty="0"/>
          </a:p>
        </p:txBody>
      </p:sp>
      <p:sp>
        <p:nvSpPr>
          <p:cNvPr id="13" name="Shape 11"/>
          <p:cNvSpPr/>
          <p:nvPr/>
        </p:nvSpPr>
        <p:spPr>
          <a:xfrm>
            <a:off x="914400" y="4434840"/>
            <a:ext cx="10149840" cy="731520"/>
          </a:xfrm>
          <a:prstGeom prst="roundRect">
            <a:avLst>
              <a:gd name="adj" fmla="val 10000"/>
            </a:avLst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45152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742"/>
                </a:solidFill>
              </a:rPr>
              <a:t>Architektonický princíp: AI je asistívna vrstva nad kontrolovaným prístupom k znalostiam, nie nový bezpečnostný alebo rozhodovací orgán.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Hlavné use cases a cieľoví používatelia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372600" y="46634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75B5"/>
                </a:solidFill>
              </a:rPr>
              <a:t>Hodnota pre organizáciu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633972"/>
            <a:ext cx="5943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10-min obhajoba návrhu | Interný AI asistent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11712" y="662482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5B5"/>
                </a:solidFill>
              </a:rPr>
              <a:t>03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31520" y="123444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EFF6FC"/>
          </a:solidFill>
          <a:ln w="13970">
            <a:solidFill>
              <a:srgbClr val="9DC3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26464" y="1435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F75B5"/>
                </a:solidFill>
              </a:rPr>
              <a:t>🔎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50392" y="2130552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2742"/>
                </a:solidFill>
              </a:rPr>
              <a:t>Interné znalosti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32688" y="25603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smernice</a:t>
            </a:r>
            <a:endParaRPr lang="en-US" sz="1270" dirty="0"/>
          </a:p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metodiky</a:t>
            </a:r>
            <a:endParaRPr lang="en-US" sz="1270" dirty="0"/>
          </a:p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procesy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9DC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41064" y="1435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F75B5"/>
                </a:solidFill>
              </a:rPr>
              <a:t>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364992" y="2130552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2742"/>
                </a:solidFill>
              </a:rPr>
              <a:t>Sumarizácia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447288" y="25603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dokumenty</a:t>
            </a:r>
            <a:endParaRPr lang="en-US" sz="1270" dirty="0"/>
          </a:p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požiadavky</a:t>
            </a:r>
            <a:endParaRPr lang="en-US" sz="1270" dirty="0"/>
          </a:p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meeting notes</a:t>
            </a:r>
            <a:endParaRPr lang="en-US" sz="1270" dirty="0"/>
          </a:p>
        </p:txBody>
      </p:sp>
      <p:sp>
        <p:nvSpPr>
          <p:cNvPr id="16" name="Shape 14"/>
          <p:cNvSpPr/>
          <p:nvPr/>
        </p:nvSpPr>
        <p:spPr>
          <a:xfrm>
            <a:off x="5760720" y="123444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EFF6FC"/>
          </a:solidFill>
          <a:ln w="13970">
            <a:solidFill>
              <a:srgbClr val="9DC3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55664" y="1435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F75B5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879592" y="2130552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2742"/>
                </a:solidFill>
              </a:rPr>
              <a:t>Biznis analýza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961888" y="25603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user stories</a:t>
            </a:r>
            <a:endParaRPr lang="en-US" sz="1270" dirty="0"/>
          </a:p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akceptačné kritériá</a:t>
            </a:r>
            <a:endParaRPr lang="en-US" sz="1270" dirty="0"/>
          </a:p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otvorené otázky</a:t>
            </a:r>
            <a:endParaRPr lang="en-US" sz="1270" dirty="0"/>
          </a:p>
        </p:txBody>
      </p:sp>
      <p:sp>
        <p:nvSpPr>
          <p:cNvPr id="20" name="Shape 18"/>
          <p:cNvSpPr/>
          <p:nvPr/>
        </p:nvSpPr>
        <p:spPr>
          <a:xfrm>
            <a:off x="8275320" y="123444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9DC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70264" y="1435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F75B5"/>
                </a:solidFill>
              </a:rPr>
              <a:t>!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94192" y="2130552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2742"/>
                </a:solidFill>
              </a:rPr>
              <a:t>Dopady a riziká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476488" y="25603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závislosti</a:t>
            </a:r>
            <a:endParaRPr lang="en-US" sz="1270" dirty="0"/>
          </a:p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regulačné dopady</a:t>
            </a:r>
            <a:endParaRPr lang="en-US" sz="1270" dirty="0"/>
          </a:p>
          <a:p>
            <a:pPr algn="ctr" indent="0" marL="0">
              <a:buNone/>
            </a:pPr>
            <a:r>
              <a:rPr lang="en-US" sz="1270" dirty="0">
                <a:solidFill>
                  <a:srgbClr val="333333"/>
                </a:solidFill>
              </a:rPr>
              <a:t>prevádzkové riziká</a:t>
            </a:r>
            <a:endParaRPr lang="en-US" sz="1270" dirty="0"/>
          </a:p>
        </p:txBody>
      </p:sp>
      <p:sp>
        <p:nvSpPr>
          <p:cNvPr id="24" name="Text 22"/>
          <p:cNvSpPr/>
          <p:nvPr/>
        </p:nvSpPr>
        <p:spPr>
          <a:xfrm>
            <a:off x="7772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2"/>
                </a:solidFill>
              </a:rPr>
              <a:t>Používatelia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697480" y="4572000"/>
            <a:ext cx="1417320" cy="329184"/>
          </a:xfrm>
          <a:prstGeom prst="rect">
            <a:avLst/>
          </a:prstGeom>
          <a:solidFill>
            <a:srgbClr val="DDEBF7"/>
          </a:solidFill>
          <a:ln>
            <a:solidFill>
              <a:srgbClr val="DDEBF7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biznis analytici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4297680" y="4572000"/>
            <a:ext cx="1417320" cy="329184"/>
          </a:xfrm>
          <a:prstGeom prst="rect">
            <a:avLst/>
          </a:prstGeom>
          <a:solidFill>
            <a:srgbClr val="DDEBF7"/>
          </a:solidFill>
          <a:ln>
            <a:solidFill>
              <a:srgbClr val="DDEBF7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produktové tímy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5897880" y="4572000"/>
            <a:ext cx="1234440" cy="329184"/>
          </a:xfrm>
          <a:prstGeom prst="rect">
            <a:avLst/>
          </a:prstGeom>
          <a:solidFill>
            <a:srgbClr val="DDEBF7"/>
          </a:solidFill>
          <a:ln>
            <a:solidFill>
              <a:srgbClr val="DDEBF7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architektúra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1078992" cy="329184"/>
          </a:xfrm>
          <a:prstGeom prst="rect">
            <a:avLst/>
          </a:prstGeom>
          <a:solidFill>
            <a:srgbClr val="DDEBF7"/>
          </a:solidFill>
          <a:ln>
            <a:solidFill>
              <a:srgbClr val="DDEBF7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IT/DevOps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595360" y="4572000"/>
            <a:ext cx="1463040" cy="329184"/>
          </a:xfrm>
          <a:prstGeom prst="rect">
            <a:avLst/>
          </a:prstGeom>
          <a:solidFill>
            <a:srgbClr val="DDEBF7"/>
          </a:solidFill>
          <a:ln>
            <a:solidFill>
              <a:srgbClr val="DDEBF7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risk/compliance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10241280" y="4572000"/>
            <a:ext cx="1554480" cy="329184"/>
          </a:xfrm>
          <a:prstGeom prst="rect">
            <a:avLst/>
          </a:prstGeom>
          <a:solidFill>
            <a:srgbClr val="DDEBF7"/>
          </a:solidFill>
          <a:ln>
            <a:solidFill>
              <a:srgbClr val="DDEBF7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knowledge owners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1280160" y="559612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75B5"/>
                </a:solidFill>
              </a:rPr>
              <a:t>Výstupy sú návrhy a odporúčania — používateľ ich overuje a potvrdzuje.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Cieľová architektúra v piatich vrstvách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372600" y="46634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75B5"/>
                </a:solidFill>
              </a:rPr>
              <a:t>High-level architecture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633972"/>
            <a:ext cx="5943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10-min obhajoba návrhu | Interný AI asistent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11712" y="662482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5B5"/>
                </a:solidFill>
              </a:rPr>
              <a:t>04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600200" y="1828800"/>
            <a:ext cx="54864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46120" y="1828800"/>
            <a:ext cx="59436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66360" y="1828800"/>
            <a:ext cx="54864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15200" y="1828800"/>
            <a:ext cx="59436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64040" y="1828800"/>
            <a:ext cx="54864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46520" y="2743200"/>
            <a:ext cx="0" cy="914400"/>
          </a:xfrm>
          <a:prstGeom prst="line">
            <a:avLst/>
          </a:prstGeom>
          <a:noFill/>
          <a:ln w="17780">
            <a:solidFill>
              <a:srgbClr val="70AD4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668512" y="2743200"/>
            <a:ext cx="0" cy="914400"/>
          </a:xfrm>
          <a:prstGeom prst="line">
            <a:avLst/>
          </a:prstGeom>
          <a:noFill/>
          <a:ln w="17780">
            <a:solidFill>
              <a:srgbClr val="70AD47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02920" y="141732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5B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Používateľ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Frontend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48840" y="1417320"/>
            <a:ext cx="1417320" cy="822960"/>
          </a:xfrm>
          <a:prstGeom prst="rect">
            <a:avLst/>
          </a:prstGeom>
          <a:solidFill>
            <a:srgbClr val="EFF6FC"/>
          </a:solidFill>
          <a:ln w="12700">
            <a:solidFill>
              <a:srgbClr val="2F75B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API Gateway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AuthN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840480" y="1417320"/>
            <a:ext cx="1600200" cy="822960"/>
          </a:xfrm>
          <a:prstGeom prst="rect">
            <a:avLst/>
          </a:prstGeom>
          <a:solidFill>
            <a:srgbClr val="EFF6FC"/>
          </a:solidFill>
          <a:ln w="12700">
            <a:solidFill>
              <a:srgbClr val="2F75B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333333"/>
                </a:solidFill>
              </a:rPr>
              <a:t>Policy Enforcement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333333"/>
                </a:solidFill>
              </a:rPr>
              <a:t>RBAC / ABAC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5715000" y="1325880"/>
            <a:ext cx="1783080" cy="1005840"/>
          </a:xfrm>
          <a:prstGeom prst="rect">
            <a:avLst/>
          </a:prstGeom>
          <a:solidFill>
            <a:srgbClr val="DDEBF7"/>
          </a:solidFill>
          <a:ln w="12700">
            <a:solidFill>
              <a:srgbClr val="2F75B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Orchestrator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Agent Manager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09560" y="1325880"/>
            <a:ext cx="1783080" cy="1005840"/>
          </a:xfrm>
          <a:prstGeom prst="rect">
            <a:avLst/>
          </a:prstGeom>
          <a:solidFill>
            <a:srgbClr val="DDEBF7"/>
          </a:solidFill>
          <a:ln w="12700">
            <a:solidFill>
              <a:srgbClr val="2F75B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Model Router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Local / Cloud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12680" y="141732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5B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Odpoveď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so zdrojmi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0" y="3657600"/>
            <a:ext cx="1920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70AD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3333"/>
                </a:solidFill>
              </a:rPr>
              <a:t>Context Engineering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333333"/>
                </a:solidFill>
              </a:rPr>
              <a:t>RAG Builder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635240" y="3657600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70AD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3333"/>
                </a:solidFill>
              </a:rPr>
              <a:t>Permission-aware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333333"/>
                </a:solidFill>
              </a:rPr>
              <a:t>Document Search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635240" y="4617720"/>
            <a:ext cx="2103120" cy="658368"/>
          </a:xfrm>
          <a:prstGeom prst="rect">
            <a:avLst/>
          </a:prstGeom>
          <a:solidFill>
            <a:srgbClr val="EFF6FC"/>
          </a:solidFill>
          <a:ln w="12700">
            <a:solidFill>
              <a:srgbClr val="70AD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PostgreSQL/pgvector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+ metadata/ACL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829800" y="3657600"/>
            <a:ext cx="1737360" cy="1618488"/>
          </a:xfrm>
          <a:prstGeom prst="rect">
            <a:avLst/>
          </a:prstGeom>
          <a:solidFill>
            <a:srgbClr val="FFFFFF"/>
          </a:solidFill>
          <a:ln w="12700">
            <a:solidFill>
              <a:srgbClr val="70AD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333333"/>
                </a:solidFill>
              </a:rPr>
              <a:t>MCP tools / APIs</a:t>
            </a:r>
            <a:endParaRPr lang="en-US" sz="1140" dirty="0"/>
          </a:p>
          <a:p>
            <a:pPr algn="ctr" indent="0" marL="0">
              <a:buNone/>
            </a:pPr>
            <a:r>
              <a:rPr lang="en-US" sz="1140" b="1" dirty="0">
                <a:solidFill>
                  <a:srgbClr val="333333"/>
                </a:solidFill>
              </a:rPr>
              <a:t>SharePoint, DB, ERP, Jira</a:t>
            </a:r>
            <a:endParaRPr lang="en-US" sz="1140" dirty="0"/>
          </a:p>
        </p:txBody>
      </p:sp>
      <p:sp>
        <p:nvSpPr>
          <p:cNvPr id="25" name="Shape 23"/>
          <p:cNvSpPr/>
          <p:nvPr/>
        </p:nvSpPr>
        <p:spPr>
          <a:xfrm>
            <a:off x="731520" y="5513832"/>
            <a:ext cx="10698480" cy="457200"/>
          </a:xfrm>
          <a:prstGeom prst="roundRect">
            <a:avLst>
              <a:gd name="adj" fmla="val 10000"/>
            </a:avLst>
          </a:prstGeom>
          <a:solidFill>
            <a:srgbClr val="F7FBF5"/>
          </a:solidFill>
          <a:ln w="12700">
            <a:solidFill>
              <a:srgbClr val="A9D18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" y="5641848"/>
            <a:ext cx="10241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70AD47"/>
                </a:solidFill>
              </a:rPr>
              <a:t>AI governance: input/context verifier · output verifier · quality &amp; risk scoring · human-in-the-loop · audit &amp; monitoring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Runtime flow: bezpečná odpoveď pred rýchlou odpoveďou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372600" y="46634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75B5"/>
                </a:solidFill>
              </a:rPr>
              <a:t>Dátový tok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633972"/>
            <a:ext cx="5943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10-min obhajoba návrhu | Interný AI asistent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11712" y="662482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5B5"/>
                </a:solidFill>
              </a:rPr>
              <a:t>05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920240" y="2441448"/>
            <a:ext cx="256032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93592" y="2441448"/>
            <a:ext cx="256032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66944" y="2441448"/>
            <a:ext cx="256032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940296" y="2441448"/>
            <a:ext cx="256032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13648" y="2441448"/>
            <a:ext cx="256032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287000" y="2441448"/>
            <a:ext cx="256032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0976" y="1325880"/>
            <a:ext cx="502920" cy="502920"/>
          </a:xfrm>
          <a:prstGeom prst="ellipse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976" y="1472184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2057400"/>
            <a:ext cx="1417320" cy="777240"/>
          </a:xfrm>
          <a:prstGeom prst="rect">
            <a:avLst/>
          </a:prstGeom>
          <a:solidFill>
            <a:srgbClr val="EFF6FC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Identita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&amp; claims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624328" y="1325880"/>
            <a:ext cx="502920" cy="502920"/>
          </a:xfrm>
          <a:prstGeom prst="ellipse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24328" y="1472184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76272" y="2057400"/>
            <a:ext cx="1417320" cy="777240"/>
          </a:xfrm>
          <a:prstGeom prst="rect">
            <a:avLst/>
          </a:prstGeom>
          <a:solidFill>
            <a:srgbClr val="EFF6FC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Policy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check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97680" y="1325880"/>
            <a:ext cx="502920" cy="502920"/>
          </a:xfrm>
          <a:prstGeom prst="ellipse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0" y="1472184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9624" y="2057400"/>
            <a:ext cx="1417320" cy="777240"/>
          </a:xfrm>
          <a:prstGeom prst="rect">
            <a:avLst/>
          </a:prstGeom>
          <a:solidFill>
            <a:srgbClr val="EFF6FC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Input &amp; context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verification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71032" y="1325880"/>
            <a:ext cx="502920" cy="502920"/>
          </a:xfrm>
          <a:prstGeom prst="ellipse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71032" y="1472184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22976" y="2057400"/>
            <a:ext cx="1417320" cy="777240"/>
          </a:xfrm>
          <a:prstGeom prst="rect">
            <a:avLst/>
          </a:prstGeom>
          <a:solidFill>
            <a:srgbClr val="EFF6FC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ACL retrieval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+ sources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644384" y="1325880"/>
            <a:ext cx="502920" cy="502920"/>
          </a:xfrm>
          <a:prstGeom prst="ellipse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44384" y="1472184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96328" y="2057400"/>
            <a:ext cx="1417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Model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response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317736" y="1325880"/>
            <a:ext cx="502920" cy="502920"/>
          </a:xfrm>
          <a:prstGeom prst="ellipse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17736" y="1472184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69680" y="2057400"/>
            <a:ext cx="1417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Output verifier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+ scoring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0991088" y="1325880"/>
            <a:ext cx="502920" cy="502920"/>
          </a:xfrm>
          <a:prstGeom prst="ellipse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991088" y="1472184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543032" y="2057400"/>
            <a:ext cx="1417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DC3E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Human review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</a:rPr>
              <a:t>if required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68680" y="3977640"/>
            <a:ext cx="4663440" cy="749808"/>
          </a:xfrm>
          <a:prstGeom prst="roundRect">
            <a:avLst>
              <a:gd name="adj" fmla="val 8537"/>
            </a:avLst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4224528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0F2742"/>
                </a:solidFill>
              </a:rPr>
              <a:t>Hard block: authorization mismatch, prompt injection, PII/secrets leakage</a:t>
            </a:r>
            <a:endParaRPr lang="en-US" sz="1230" dirty="0"/>
          </a:p>
        </p:txBody>
      </p:sp>
      <p:sp>
        <p:nvSpPr>
          <p:cNvPr id="37" name="Shape 35"/>
          <p:cNvSpPr/>
          <p:nvPr/>
        </p:nvSpPr>
        <p:spPr>
          <a:xfrm>
            <a:off x="6400800" y="3977640"/>
            <a:ext cx="4663440" cy="749808"/>
          </a:xfrm>
          <a:prstGeom prst="roundRect">
            <a:avLst>
              <a:gd name="adj" fmla="val 8537"/>
            </a:avLst>
          </a:prstGeom>
          <a:solidFill>
            <a:srgbClr val="FFF2CC"/>
          </a:solidFill>
          <a:ln w="12700">
            <a:solidFill>
              <a:srgbClr val="D6B6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11112" y="4224528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7F6000"/>
                </a:solidFill>
              </a:rPr>
              <a:t>Human-in-the-loop: unsupported claim, low score, high-risk action</a:t>
            </a:r>
            <a:endParaRPr lang="en-US" sz="1230" dirty="0"/>
          </a:p>
        </p:txBody>
      </p:sp>
      <p:sp>
        <p:nvSpPr>
          <p:cNvPr id="39" name="Text 37"/>
          <p:cNvSpPr/>
          <p:nvPr/>
        </p:nvSpPr>
        <p:spPr>
          <a:xfrm>
            <a:off x="1005840" y="54406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2F75B5"/>
                </a:solidFill>
              </a:rPr>
              <a:t>Audit sleduje celý tok: kto sa pýtal, ktoré zdroje boli použité, aké rozhodnutia a skóre vznikli.</a:t>
            </a:r>
            <a:endParaRPr lang="en-US" sz="15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Permission-aware RAG a ochrana dát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372600" y="46634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75B5"/>
                </a:solidFill>
              </a:rPr>
              <a:t>Security by design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633972"/>
            <a:ext cx="5943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10-min obhajoba návrhu | Interný AI asistent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11712" y="662482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5B5"/>
                </a:solidFill>
              </a:rPr>
              <a:t>06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103327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0000"/>
                </a:solidFill>
              </a:rPr>
              <a:t>Najväčšie RAG riziko: model dostane kontext, ktorý používateľ nemal vidieť.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0000"/>
                </a:solidFill>
              </a:rPr>
              <a:t>Nesprávny vzor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148840"/>
            <a:ext cx="4206240" cy="1051560"/>
          </a:xfrm>
          <a:prstGeom prst="rect">
            <a:avLst/>
          </a:prstGeom>
          <a:solidFill>
            <a:srgbClr val="FCE4D6"/>
          </a:solidFill>
          <a:ln w="12700">
            <a:solidFill>
              <a:srgbClr val="F4B18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Vyhľadaj všetko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→ daj modelu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→ skús odfiltrovať odpoveď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0" y="173736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0AD47"/>
                </a:solidFill>
              </a:rPr>
              <a:t>Správny vzor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2148840"/>
            <a:ext cx="4526280" cy="1051560"/>
          </a:xfrm>
          <a:prstGeom prst="rect">
            <a:avLst/>
          </a:prstGeom>
          <a:solidFill>
            <a:srgbClr val="E2F0D9"/>
          </a:solidFill>
          <a:ln w="12700">
            <a:solidFill>
              <a:srgbClr val="A9D18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33333"/>
                </a:solidFill>
              </a:rPr>
              <a:t>Použi claims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333333"/>
                </a:solidFill>
              </a:rPr>
              <a:t>→ ACL pre-filter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333333"/>
                </a:solidFill>
              </a:rPr>
              <a:t>→ vyhľadaj len povolené chunky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333333"/>
                </a:solidFill>
              </a:rPr>
              <a:t>→ odpoveď so zdrojmi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806440" y="1920240"/>
            <a:ext cx="0" cy="2926080"/>
          </a:xfrm>
          <a:prstGeom prst="line">
            <a:avLst/>
          </a:prstGeom>
          <a:noFill/>
          <a:ln w="12700">
            <a:solidFill>
              <a:srgbClr val="B7C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9776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742"/>
                </a:solidFill>
              </a:rPr>
              <a:t>Metadata na každom chunke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51560" y="4389120"/>
            <a:ext cx="429768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320" dirty="0">
                <a:solidFill>
                  <a:srgbClr val="333333"/>
                </a:solidFill>
              </a:rPr>
              <a:t>document_id, source, version</a:t>
            </a:r>
            <a:endParaRPr lang="en-US" sz="1320" dirty="0"/>
          </a:p>
          <a:p>
            <a:r>
              <a:rPr lang="en-US" sz="1320" dirty="0">
                <a:solidFill>
                  <a:srgbClr val="333333"/>
                </a:solidFill>
              </a:rPr>
              <a:t>classification, owner, ACL groups</a:t>
            </a:r>
            <a:endParaRPr lang="en-US" sz="1320" dirty="0"/>
          </a:p>
          <a:p>
            <a:r>
              <a:rPr lang="en-US" sz="1320" dirty="0">
                <a:solidFill>
                  <a:srgbClr val="333333"/>
                </a:solidFill>
              </a:rPr>
              <a:t>valid_from / valid_to, retention</a:t>
            </a:r>
            <a:endParaRPr lang="en-US" sz="1320" dirty="0"/>
          </a:p>
          <a:p>
            <a:r>
              <a:rPr lang="en-US" sz="1320" dirty="0">
                <a:solidFill>
                  <a:srgbClr val="333333"/>
                </a:solidFill>
              </a:rPr>
              <a:t>source URL + audit correlation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83680" y="39776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742"/>
                </a:solidFill>
              </a:rPr>
              <a:t>Model routing policy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629400" y="4389120"/>
            <a:ext cx="429768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320" dirty="0">
                <a:solidFill>
                  <a:srgbClr val="333333"/>
                </a:solidFill>
              </a:rPr>
              <a:t>low risk → cloud/enterprise model</a:t>
            </a:r>
            <a:endParaRPr lang="en-US" sz="1320" dirty="0"/>
          </a:p>
          <a:p>
            <a:r>
              <a:rPr lang="en-US" sz="1320" dirty="0">
                <a:solidFill>
                  <a:srgbClr val="333333"/>
                </a:solidFill>
              </a:rPr>
              <a:t>confidential → approved hosted/local</a:t>
            </a:r>
            <a:endParaRPr lang="en-US" sz="1320" dirty="0"/>
          </a:p>
          <a:p>
            <a:r>
              <a:rPr lang="en-US" sz="1320" dirty="0">
                <a:solidFill>
                  <a:srgbClr val="333333"/>
                </a:solidFill>
              </a:rPr>
              <a:t>restricted → local/HITL only</a:t>
            </a:r>
            <a:endParaRPr lang="en-US" sz="1320" dirty="0"/>
          </a:p>
          <a:p>
            <a:r>
              <a:rPr lang="en-US" sz="1320" dirty="0">
                <a:solidFill>
                  <a:srgbClr val="333333"/>
                </a:solidFill>
              </a:rPr>
              <a:t>secrets → redact/block</a:t>
            </a:r>
            <a:endParaRPr lang="en-US" sz="13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Kvalita odpovedí: nie jedno confidence číslo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372600" y="46634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75B5"/>
                </a:solidFill>
              </a:rPr>
              <a:t>Quality &amp; governance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633972"/>
            <a:ext cx="5943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10-min obhajoba návrhu | Interný AI asistent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11712" y="662482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5B5"/>
                </a:solidFill>
              </a:rPr>
              <a:t>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4663440" cy="658368"/>
          </a:xfrm>
          <a:prstGeom prst="roundRect">
            <a:avLst>
              <a:gd name="adj" fmla="val 8333"/>
            </a:avLst>
          </a:prstGeom>
          <a:solidFill>
            <a:srgbClr val="EFF6FC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33502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2742"/>
                </a:solidFill>
              </a:rPr>
              <a:t>Groundedness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2971800" y="1335024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333333"/>
                </a:solidFill>
              </a:rPr>
              <a:t>tvrdenia majú oporu v zdrojoch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6263640" y="1234440"/>
            <a:ext cx="4663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133502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2742"/>
                </a:solidFill>
              </a:rPr>
              <a:t>Source coverage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8412480" y="1335024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333333"/>
                </a:solidFill>
              </a:rPr>
              <a:t>odpoveď pokrýva relevantné zdroje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822960" y="2194560"/>
            <a:ext cx="4663440" cy="658368"/>
          </a:xfrm>
          <a:prstGeom prst="roundRect">
            <a:avLst>
              <a:gd name="adj" fmla="val 8333"/>
            </a:avLst>
          </a:prstGeom>
          <a:solidFill>
            <a:srgbClr val="EFF6FC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29514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2742"/>
                </a:solidFill>
              </a:rPr>
              <a:t>Authorization risk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2971800" y="2295144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333333"/>
                </a:solidFill>
              </a:rPr>
              <a:t>žiadny zdroj mimo oprávnení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263640" y="2194560"/>
            <a:ext cx="4663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8232" y="229514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2742"/>
                </a:solidFill>
              </a:rPr>
              <a:t>PII/DLP risk</a:t>
            </a:r>
            <a:endParaRPr lang="en-US" sz="1220" dirty="0"/>
          </a:p>
        </p:txBody>
      </p:sp>
      <p:sp>
        <p:nvSpPr>
          <p:cNvPr id="19" name="Text 17"/>
          <p:cNvSpPr/>
          <p:nvPr/>
        </p:nvSpPr>
        <p:spPr>
          <a:xfrm>
            <a:off x="8412480" y="2295144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333333"/>
                </a:solidFill>
              </a:rPr>
              <a:t>bez úniku osobných/citlivých dát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822960" y="3154680"/>
            <a:ext cx="4663440" cy="658368"/>
          </a:xfrm>
          <a:prstGeom prst="roundRect">
            <a:avLst>
              <a:gd name="adj" fmla="val 8333"/>
            </a:avLst>
          </a:prstGeom>
          <a:solidFill>
            <a:srgbClr val="EFF6FC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32552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2742"/>
                </a:solidFill>
              </a:rPr>
              <a:t>Prompt-injection risk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2971800" y="3255264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333333"/>
                </a:solidFill>
              </a:rPr>
              <a:t>detekcia nebezpečných inštrukcií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6263640" y="3154680"/>
            <a:ext cx="4663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32552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2742"/>
                </a:solidFill>
              </a:rPr>
              <a:t>Completeness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8412480" y="3255264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333333"/>
                </a:solidFill>
              </a:rPr>
              <a:t>odpoveď je použiteľná pre biznis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914400" y="4480560"/>
            <a:ext cx="10149840" cy="0"/>
          </a:xfrm>
          <a:prstGeom prst="line">
            <a:avLst/>
          </a:prstGeom>
          <a:noFill/>
          <a:ln w="12700">
            <a:solidFill>
              <a:srgbClr val="B7C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7548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2"/>
                </a:solidFill>
              </a:rPr>
              <a:t>Rozhodovacia logika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429000" y="4736592"/>
            <a:ext cx="960120" cy="329184"/>
          </a:xfrm>
          <a:prstGeom prst="rect">
            <a:avLst/>
          </a:prstGeom>
          <a:solidFill>
            <a:srgbClr val="E2F0D9"/>
          </a:solidFill>
          <a:ln>
            <a:solidFill>
              <a:srgbClr val="E2F0D9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75623"/>
                </a:solidFill>
              </a:rPr>
              <a:t>answer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4709160" y="4736592"/>
            <a:ext cx="960120" cy="329184"/>
          </a:xfrm>
          <a:prstGeom prst="rect">
            <a:avLst/>
          </a:prstGeom>
          <a:solidFill>
            <a:srgbClr val="FFF2CC"/>
          </a:solidFill>
          <a:ln>
            <a:solidFill>
              <a:srgbClr val="FFF2CC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7F6000"/>
                </a:solidFill>
              </a:rPr>
              <a:t>redact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5989320" y="4736592"/>
            <a:ext cx="960120" cy="329184"/>
          </a:xfrm>
          <a:prstGeom prst="rect">
            <a:avLst/>
          </a:prstGeom>
          <a:solidFill>
            <a:srgbClr val="FCE4D6"/>
          </a:solidFill>
          <a:ln>
            <a:solidFill>
              <a:srgbClr val="FCE4D6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9E480E"/>
                </a:solidFill>
              </a:rPr>
              <a:t>reject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7269480" y="4736592"/>
            <a:ext cx="1325880" cy="329184"/>
          </a:xfrm>
          <a:prstGeom prst="rect">
            <a:avLst/>
          </a:prstGeom>
          <a:solidFill>
            <a:srgbClr val="DDEBF7"/>
          </a:solidFill>
          <a:ln>
            <a:solidFill>
              <a:srgbClr val="DDEBF7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human review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1005840" y="5687568"/>
            <a:ext cx="9875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F75B5"/>
                </a:solidFill>
              </a:rPr>
              <a:t>Unsupported claim → odmietnuť, upraviť alebo eskalovať na človeka.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Porovnanie alternatív a odporúčanie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372600" y="46634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75B5"/>
                </a:solidFill>
              </a:rPr>
              <a:t>Cloud vs. on-prem vs. hybrid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633972"/>
            <a:ext cx="5943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10-min obhajoba návrhu | Interný AI asistent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11712" y="662482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5B5"/>
                </a:solidFill>
              </a:rPr>
              <a:t>08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2011680" cy="411480"/>
          </a:xfrm>
          <a:prstGeom prst="rect">
            <a:avLst/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1271016"/>
            <a:ext cx="1865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F2742"/>
                </a:solidFill>
              </a:rPr>
              <a:t>Prístup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97480" y="1143000"/>
            <a:ext cx="2926080" cy="411480"/>
          </a:xfrm>
          <a:prstGeom prst="rect">
            <a:avLst/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70632" y="1271016"/>
            <a:ext cx="27797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F2742"/>
                </a:solidFill>
              </a:rPr>
              <a:t>Silné stránky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623560" y="1143000"/>
            <a:ext cx="3017520" cy="411480"/>
          </a:xfrm>
          <a:prstGeom prst="rect">
            <a:avLst/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96712" y="1271016"/>
            <a:ext cx="2871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F2742"/>
                </a:solidFill>
              </a:rPr>
              <a:t>Riziká / limity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641080" y="1143000"/>
            <a:ext cx="2560320" cy="411480"/>
          </a:xfrm>
          <a:prstGeom prst="rect">
            <a:avLst/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14232" y="1271016"/>
            <a:ext cx="2414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F2742"/>
                </a:solidFill>
              </a:rPr>
              <a:t>Vhodnosť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85800" y="1554480"/>
            <a:ext cx="2011680" cy="960120"/>
          </a:xfrm>
          <a:prstGeom prst="rect">
            <a:avLst/>
          </a:prstGeom>
          <a:solidFill>
            <a:srgbClr val="FFFFFF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1682496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333333"/>
                </a:solidFill>
              </a:rPr>
              <a:t>Cloud AI služby</a:t>
            </a:r>
            <a:endParaRPr lang="en-US" sz="1160" dirty="0"/>
          </a:p>
        </p:txBody>
      </p:sp>
      <p:sp>
        <p:nvSpPr>
          <p:cNvPr id="18" name="Shape 16"/>
          <p:cNvSpPr/>
          <p:nvPr/>
        </p:nvSpPr>
        <p:spPr>
          <a:xfrm>
            <a:off x="2697480" y="1554480"/>
            <a:ext cx="2926080" cy="960120"/>
          </a:xfrm>
          <a:prstGeom prst="rect">
            <a:avLst/>
          </a:prstGeom>
          <a:solidFill>
            <a:srgbClr val="FFFFFF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79776" y="1682496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333333"/>
                </a:solidFill>
              </a:rPr>
              <a:t>najvyššia kvalita, rýchlosť, škálovanie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5623560" y="1554480"/>
            <a:ext cx="3017520" cy="960120"/>
          </a:xfrm>
          <a:prstGeom prst="rect">
            <a:avLst/>
          </a:prstGeom>
          <a:solidFill>
            <a:srgbClr val="FFFFFF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05856" y="168249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333333"/>
                </a:solidFill>
              </a:rPr>
              <a:t>dátová politika, vendor lock-in, náklady</a:t>
            </a:r>
            <a:endParaRPr lang="en-US" sz="1070" dirty="0"/>
          </a:p>
        </p:txBody>
      </p:sp>
      <p:sp>
        <p:nvSpPr>
          <p:cNvPr id="22" name="Shape 20"/>
          <p:cNvSpPr/>
          <p:nvPr/>
        </p:nvSpPr>
        <p:spPr>
          <a:xfrm>
            <a:off x="8641080" y="1554480"/>
            <a:ext cx="2560320" cy="960120"/>
          </a:xfrm>
          <a:prstGeom prst="rect">
            <a:avLst/>
          </a:prstGeom>
          <a:solidFill>
            <a:srgbClr val="FFFFFF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23376" y="1682496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333333"/>
                </a:solidFill>
              </a:rPr>
              <a:t>nízko/stredne citlivé úlohy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685800" y="2514600"/>
            <a:ext cx="2011680" cy="960120"/>
          </a:xfrm>
          <a:prstGeom prst="rect">
            <a:avLst/>
          </a:prstGeom>
          <a:solidFill>
            <a:srgbClr val="EFF6FC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2642616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333333"/>
                </a:solidFill>
              </a:rPr>
              <a:t>On-prem / local</a:t>
            </a:r>
            <a:endParaRPr lang="en-US" sz="1160" dirty="0"/>
          </a:p>
        </p:txBody>
      </p:sp>
      <p:sp>
        <p:nvSpPr>
          <p:cNvPr id="26" name="Shape 24"/>
          <p:cNvSpPr/>
          <p:nvPr/>
        </p:nvSpPr>
        <p:spPr>
          <a:xfrm>
            <a:off x="2697480" y="2514600"/>
            <a:ext cx="2926080" cy="960120"/>
          </a:xfrm>
          <a:prstGeom prst="rect">
            <a:avLst/>
          </a:prstGeom>
          <a:solidFill>
            <a:srgbClr val="EFF6FC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79776" y="2642616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333333"/>
                </a:solidFill>
              </a:rPr>
              <a:t>kontrola dát, izolácia, compliance</a:t>
            </a:r>
            <a:endParaRPr lang="en-US" sz="1070" dirty="0"/>
          </a:p>
        </p:txBody>
      </p:sp>
      <p:sp>
        <p:nvSpPr>
          <p:cNvPr id="28" name="Shape 26"/>
          <p:cNvSpPr/>
          <p:nvPr/>
        </p:nvSpPr>
        <p:spPr>
          <a:xfrm>
            <a:off x="5623560" y="2514600"/>
            <a:ext cx="3017520" cy="960120"/>
          </a:xfrm>
          <a:prstGeom prst="rect">
            <a:avLst/>
          </a:prstGeom>
          <a:solidFill>
            <a:srgbClr val="EFF6FC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05856" y="264261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333333"/>
                </a:solidFill>
              </a:rPr>
              <a:t>nižšia kvalita, prevádzková náročnosť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8641080" y="2514600"/>
            <a:ext cx="2560320" cy="960120"/>
          </a:xfrm>
          <a:prstGeom prst="rect">
            <a:avLst/>
          </a:prstGeom>
          <a:solidFill>
            <a:srgbClr val="EFF6FC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23376" y="2642616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333333"/>
                </a:solidFill>
              </a:rPr>
              <a:t>citlivé alebo regulované dáta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685800" y="3474720"/>
            <a:ext cx="2011680" cy="960120"/>
          </a:xfrm>
          <a:prstGeom prst="rect">
            <a:avLst/>
          </a:prstGeom>
          <a:solidFill>
            <a:srgbClr val="E2F0D9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" y="3602736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70AD47"/>
                </a:solidFill>
              </a:rPr>
              <a:t>Hybrid</a:t>
            </a:r>
            <a:endParaRPr lang="en-US" sz="1160" dirty="0"/>
          </a:p>
        </p:txBody>
      </p:sp>
      <p:sp>
        <p:nvSpPr>
          <p:cNvPr id="34" name="Shape 32"/>
          <p:cNvSpPr/>
          <p:nvPr/>
        </p:nvSpPr>
        <p:spPr>
          <a:xfrm>
            <a:off x="2697480" y="3474720"/>
            <a:ext cx="2926080" cy="960120"/>
          </a:xfrm>
          <a:prstGeom prst="rect">
            <a:avLst/>
          </a:prstGeom>
          <a:solidFill>
            <a:srgbClr val="E2F0D9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79776" y="3602736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70AD47"/>
                </a:solidFill>
              </a:rPr>
              <a:t>model routing podľa dát a rizika</a:t>
            </a:r>
            <a:endParaRPr lang="en-US" sz="1070" dirty="0"/>
          </a:p>
        </p:txBody>
      </p:sp>
      <p:sp>
        <p:nvSpPr>
          <p:cNvPr id="36" name="Shape 34"/>
          <p:cNvSpPr/>
          <p:nvPr/>
        </p:nvSpPr>
        <p:spPr>
          <a:xfrm>
            <a:off x="5623560" y="3474720"/>
            <a:ext cx="3017520" cy="960120"/>
          </a:xfrm>
          <a:prstGeom prst="rect">
            <a:avLst/>
          </a:prstGeom>
          <a:solidFill>
            <a:srgbClr val="E2F0D9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05856" y="360273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70AD47"/>
                </a:solidFill>
              </a:rPr>
              <a:t>vyššia architektonická komplexita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8641080" y="3474720"/>
            <a:ext cx="2560320" cy="960120"/>
          </a:xfrm>
          <a:prstGeom prst="rect">
            <a:avLst/>
          </a:prstGeom>
          <a:solidFill>
            <a:srgbClr val="E2F0D9"/>
          </a:solidFill>
          <a:ln w="8890">
            <a:solidFill>
              <a:srgbClr val="B7C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23376" y="3602736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70AD47"/>
                </a:solidFill>
              </a:rPr>
              <a:t>odporúčané enterprise riešenie</a:t>
            </a:r>
            <a:endParaRPr lang="en-US" sz="1070" dirty="0"/>
          </a:p>
        </p:txBody>
      </p:sp>
      <p:sp>
        <p:nvSpPr>
          <p:cNvPr id="40" name="Text 38"/>
          <p:cNvSpPr/>
          <p:nvPr/>
        </p:nvSpPr>
        <p:spPr>
          <a:xfrm>
            <a:off x="868680" y="512064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742"/>
                </a:solidFill>
              </a:rPr>
              <a:t>Odporúčanie: hybridný AI asistent s permission-aware RAG, deterministickou autorizáciou, model routing policy, output verification a human-in-the-loop.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0312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EFF6FC"/>
          </a:solidFill>
          <a:ln w="12700">
            <a:solidFill>
              <a:srgbClr val="EFF6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Roadmapa, go/no-go a časť na overenie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372600" y="46634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75B5"/>
                </a:solidFill>
              </a:rPr>
              <a:t>Záver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633972"/>
            <a:ext cx="5943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10-min obhajoba návrhu | Interný AI asistent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11712" y="662482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5B5"/>
                </a:solidFill>
              </a:rPr>
              <a:t>09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417320" y="1874520"/>
            <a:ext cx="41148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37560" y="1874520"/>
            <a:ext cx="41148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57800" y="1874520"/>
            <a:ext cx="41148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178040" y="1874520"/>
            <a:ext cx="41148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1874520"/>
            <a:ext cx="411480" cy="0"/>
          </a:xfrm>
          <a:prstGeom prst="line">
            <a:avLst/>
          </a:prstGeom>
          <a:noFill/>
          <a:ln w="17780">
            <a:solidFill>
              <a:srgbClr val="2F75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4360" y="1463040"/>
            <a:ext cx="1508760" cy="822960"/>
          </a:xfrm>
          <a:prstGeom prst="chevron">
            <a:avLst/>
          </a:prstGeom>
          <a:solidFill>
            <a:srgbClr val="EFF6FC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170078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0F2742"/>
                </a:solidFill>
              </a:rPr>
              <a:t>Discovery</a:t>
            </a:r>
            <a:endParaRPr lang="en-US" sz="1140" dirty="0"/>
          </a:p>
        </p:txBody>
      </p:sp>
      <p:sp>
        <p:nvSpPr>
          <p:cNvPr id="15" name="Text 13"/>
          <p:cNvSpPr/>
          <p:nvPr/>
        </p:nvSpPr>
        <p:spPr>
          <a:xfrm>
            <a:off x="566928" y="2487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333333"/>
                </a:solidFill>
              </a:rPr>
              <a:t>use cases, zdroje, riziká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2514600" y="1463040"/>
            <a:ext cx="1508760" cy="822960"/>
          </a:xfrm>
          <a:prstGeom prst="chevron">
            <a:avLst/>
          </a:prstGeom>
          <a:solidFill>
            <a:srgbClr val="EFF6FC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9464" y="170078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0F2742"/>
                </a:solidFill>
              </a:rPr>
              <a:t>PoC</a:t>
            </a:r>
            <a:endParaRPr lang="en-US" sz="1140" dirty="0"/>
          </a:p>
        </p:txBody>
      </p:sp>
      <p:sp>
        <p:nvSpPr>
          <p:cNvPr id="18" name="Text 16"/>
          <p:cNvSpPr/>
          <p:nvPr/>
        </p:nvSpPr>
        <p:spPr>
          <a:xfrm>
            <a:off x="2487168" y="2487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333333"/>
                </a:solidFill>
              </a:rPr>
              <a:t>ACL RAG + citácie fungujú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4434840" y="1463040"/>
            <a:ext cx="1508760" cy="822960"/>
          </a:xfrm>
          <a:prstGeom prst="chevron">
            <a:avLst/>
          </a:prstGeom>
          <a:solidFill>
            <a:srgbClr val="EFF6FC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9704" y="170078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0F2742"/>
                </a:solidFill>
              </a:rPr>
              <a:t>MVP</a:t>
            </a:r>
            <a:endParaRPr lang="en-US" sz="1140" dirty="0"/>
          </a:p>
        </p:txBody>
      </p:sp>
      <p:sp>
        <p:nvSpPr>
          <p:cNvPr id="21" name="Text 19"/>
          <p:cNvSpPr/>
          <p:nvPr/>
        </p:nvSpPr>
        <p:spPr>
          <a:xfrm>
            <a:off x="4407408" y="2487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333333"/>
                </a:solidFill>
              </a:rPr>
              <a:t>obmedzená skupina používateľov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6355080" y="1463040"/>
            <a:ext cx="1508760" cy="822960"/>
          </a:xfrm>
          <a:prstGeom prst="chevron">
            <a:avLst/>
          </a:prstGeom>
          <a:solidFill>
            <a:srgbClr val="EFF6FC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170078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0F2742"/>
                </a:solidFill>
              </a:rPr>
              <a:t>Pilot</a:t>
            </a:r>
            <a:endParaRPr lang="en-US" sz="1140" dirty="0"/>
          </a:p>
        </p:txBody>
      </p:sp>
      <p:sp>
        <p:nvSpPr>
          <p:cNvPr id="24" name="Text 22"/>
          <p:cNvSpPr/>
          <p:nvPr/>
        </p:nvSpPr>
        <p:spPr>
          <a:xfrm>
            <a:off x="6327648" y="2487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333333"/>
                </a:solidFill>
              </a:rPr>
              <a:t>metriky kvality a adopcie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8275320" y="1463040"/>
            <a:ext cx="1508760" cy="822960"/>
          </a:xfrm>
          <a:prstGeom prst="chevron">
            <a:avLst/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0184" y="170078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0F2742"/>
                </a:solidFill>
              </a:rPr>
              <a:t>Produkcia</a:t>
            </a:r>
            <a:endParaRPr lang="en-US" sz="1140" dirty="0"/>
          </a:p>
        </p:txBody>
      </p:sp>
      <p:sp>
        <p:nvSpPr>
          <p:cNvPr id="27" name="Text 25"/>
          <p:cNvSpPr/>
          <p:nvPr/>
        </p:nvSpPr>
        <p:spPr>
          <a:xfrm>
            <a:off x="8247888" y="2487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333333"/>
                </a:solidFill>
              </a:rPr>
              <a:t>go/no-go report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195560" y="1463040"/>
            <a:ext cx="1508760" cy="822960"/>
          </a:xfrm>
          <a:prstGeom prst="chevron">
            <a:avLst/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250424" y="1700784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0F2742"/>
                </a:solidFill>
              </a:rPr>
              <a:t>Škálovanie</a:t>
            </a:r>
            <a:endParaRPr lang="en-US" sz="1140" dirty="0"/>
          </a:p>
        </p:txBody>
      </p:sp>
      <p:sp>
        <p:nvSpPr>
          <p:cNvPr id="30" name="Text 28"/>
          <p:cNvSpPr/>
          <p:nvPr/>
        </p:nvSpPr>
        <p:spPr>
          <a:xfrm>
            <a:off x="10168128" y="2487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333333"/>
                </a:solidFill>
              </a:rPr>
              <a:t>nové domény a zdroje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822960" y="3794760"/>
            <a:ext cx="4892040" cy="1024128"/>
          </a:xfrm>
          <a:prstGeom prst="roundRect">
            <a:avLst>
              <a:gd name="adj" fmla="val 7143"/>
            </a:avLst>
          </a:prstGeom>
          <a:solidFill>
            <a:srgbClr val="FFF2CC"/>
          </a:solidFill>
          <a:ln w="12700">
            <a:solidFill>
              <a:srgbClr val="D6B6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51560" y="39776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F6000"/>
                </a:solidFill>
              </a:rPr>
              <a:t>Pred produkciou overiť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051560" y="4315968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333333"/>
                </a:solidFill>
              </a:rPr>
              <a:t>permission-aware RAG nad citlivými dátami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333333"/>
                </a:solidFill>
              </a:rPr>
              <a:t>a agentické volanie interných nástrojov</a:t>
            </a:r>
            <a:endParaRPr lang="en-US" sz="1280" dirty="0"/>
          </a:p>
        </p:txBody>
      </p:sp>
      <p:sp>
        <p:nvSpPr>
          <p:cNvPr id="34" name="Shape 32"/>
          <p:cNvSpPr/>
          <p:nvPr/>
        </p:nvSpPr>
        <p:spPr>
          <a:xfrm>
            <a:off x="6400800" y="3794760"/>
            <a:ext cx="4892040" cy="1024128"/>
          </a:xfrm>
          <a:prstGeom prst="roundRect">
            <a:avLst>
              <a:gd name="adj" fmla="val 7143"/>
            </a:avLst>
          </a:prstGeom>
          <a:solidFill>
            <a:srgbClr val="DDEBF7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39776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742"/>
                </a:solidFill>
              </a:rPr>
              <a:t>Go/no-go dôkazy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6629400" y="4315968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333333"/>
                </a:solidFill>
              </a:rPr>
              <a:t>access-control testy · eval report · DLP/PII testy · auditability · runbook · pilot feedback</a:t>
            </a:r>
            <a:endParaRPr lang="en-US" sz="1210" dirty="0"/>
          </a:p>
        </p:txBody>
      </p:sp>
      <p:sp>
        <p:nvSpPr>
          <p:cNvPr id="37" name="Text 35"/>
          <p:cNvSpPr/>
          <p:nvPr/>
        </p:nvSpPr>
        <p:spPr>
          <a:xfrm>
            <a:off x="914400" y="5623560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</a:rPr>
              <a:t>Záver: cieľom nie je najinteligentnejší chatbot, ale bezpečný, auditovateľný a použiteľný AI asistent.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ESolutions SK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Interný AI asistent - 10 min prezentácia</dc:title>
  <dc:subject>AI architekt - interný AI asistent</dc:subject>
  <dc:creator>ChatGPT</dc:creator>
  <cp:lastModifiedBy>ChatGPT</cp:lastModifiedBy>
  <cp:revision>1</cp:revision>
  <dcterms:created xsi:type="dcterms:W3CDTF">2026-05-24T15:22:21Z</dcterms:created>
  <dcterms:modified xsi:type="dcterms:W3CDTF">2026-05-24T15:22:21Z</dcterms:modified>
</cp:coreProperties>
</file>