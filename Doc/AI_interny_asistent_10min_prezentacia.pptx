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46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"/>
              </a:defRPr>
            </a:pPr>
            <a:r>
              <a:t>Návrh architektúry interného AI asistenta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920240"/>
            <a:ext cx="3474720" cy="182880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9536" y="2029968"/>
            <a:ext cx="3182112" cy="166420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50" b="1">
                <a:solidFill>
                  <a:srgbClr val="143053"/>
                </a:solidFill>
                <a:latin typeface="Arial"/>
              </a:defRPr>
            </a:pPr>
            <a:r>
              <a:t>Cieľ riešenia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zrýchliť prácu s internými informáciami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podporiť analýzu požiadaviek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poskytovať overiteľné odporúčania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920240"/>
            <a:ext cx="3474720" cy="1828800"/>
          </a:xfrm>
          <a:prstGeom prst="roundRect">
            <a:avLst/>
          </a:prstGeom>
          <a:solidFill>
            <a:srgbClr val="DCFCE7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17136" y="2029968"/>
            <a:ext cx="3182112" cy="166420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50" b="1">
                <a:solidFill>
                  <a:srgbClr val="16A34A"/>
                </a:solidFill>
                <a:latin typeface="Arial"/>
              </a:defRPr>
            </a:pPr>
            <a:r>
              <a:t>Základný princíp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AI nerozhoduje za používateľa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odpovede musia byť overiteľné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človek ostáva vlastníkom rozhodnutia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1" y="1920240"/>
            <a:ext cx="3474720" cy="1828800"/>
          </a:xfrm>
          <a:prstGeom prst="roundRect">
            <a:avLst/>
          </a:prstGeom>
          <a:solidFill>
            <a:srgbClr val="FFEDD5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74736" y="2029968"/>
            <a:ext cx="3182112" cy="166420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50" b="1">
                <a:solidFill>
                  <a:srgbClr val="EA580C"/>
                </a:solidFill>
                <a:latin typeface="Arial"/>
              </a:defRPr>
            </a:pPr>
            <a:r>
              <a:t>Odporúčanie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hybridný AI prístup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permission-aware RAG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audit, scoring, human-in-the-loop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4343400"/>
            <a:ext cx="10835640" cy="603504"/>
          </a:xfrm>
          <a:prstGeom prst="roundRect">
            <a:avLst/>
          </a:prstGeom>
          <a:solidFill>
            <a:srgbClr val="14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Cieľ nie je „najinteligentnejší chatbot“, ale bezpečný, auditovateľný a použiteľný AI asistent.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5166360"/>
            <a:ext cx="108813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50" b="0">
                <a:solidFill>
                  <a:srgbClr val="475569"/>
                </a:solidFill>
                <a:latin typeface="Arial"/>
              </a:defRPr>
            </a:pPr>
            <a:r>
              <a:t>Použitie AI pri príprave: ako sparring partner na štruktúru, alternatívy, riziká a kontrolu konzistencie. Finálne rozhodnutia a zodpovednosť sú moje.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3196709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475569"/>
                </a:solidFill>
                <a:latin typeface="Arial"/>
              </a:defRPr>
            </a:pPr>
            <a:r>
              <a:rPr dirty="0" err="1"/>
              <a:t>Interný</a:t>
            </a:r>
            <a:r>
              <a:rPr dirty="0"/>
              <a:t> AI </a:t>
            </a:r>
            <a:r>
              <a:rPr dirty="0" err="1"/>
              <a:t>asistent</a:t>
            </a:r>
            <a:r>
              <a:rPr dirty="0"/>
              <a:t> – . </a:t>
            </a:r>
            <a:r>
              <a:rPr dirty="0" err="1"/>
              <a:t>obhajoba</a:t>
            </a:r>
            <a:r>
              <a:rPr dirty="0"/>
              <a:t> </a:t>
            </a:r>
            <a:r>
              <a:rPr dirty="0" err="1"/>
              <a:t>riešenia</a:t>
            </a:r>
            <a:r>
              <a:rPr lang="en-US" dirty="0"/>
              <a:t>, Marek Matonok 2026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11064240" y="6473952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475569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3053"/>
                </a:solidFill>
                <a:latin typeface="Arial"/>
              </a:defRPr>
            </a:pPr>
            <a:r>
              <a:t>1. Kontext, use cases a hranice riešenia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155680" cy="1828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520440" cy="43434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6384" y="1527048"/>
            <a:ext cx="3227832" cy="417880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50" b="1">
                <a:solidFill>
                  <a:srgbClr val="143053"/>
                </a:solidFill>
                <a:latin typeface="Arial"/>
              </a:defRPr>
            </a:pPr>
            <a:r>
              <a:t>Hlavné use cases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vyhľadávanie smerníc, metodík a procesov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sumarizácia interných informácií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návrhy odpovedí a podkladov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analýza biznis požiadaviek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user stories a akceptačné kritériá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dopady, závislosti a riziká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17320"/>
            <a:ext cx="3520440" cy="434340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89704" y="1527048"/>
            <a:ext cx="3227832" cy="417880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50" b="1">
                <a:solidFill>
                  <a:srgbClr val="143053"/>
                </a:solidFill>
                <a:latin typeface="Arial"/>
              </a:defRPr>
            </a:pPr>
            <a:r>
              <a:t>Cieľoví používatelia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biznis analytici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produktoví vlastníci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architekti a vývojové tímy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prevádzka / infraštruktúra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manažéri a doménoví vlastníci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17320"/>
            <a:ext cx="3520440" cy="4343400"/>
          </a:xfrm>
          <a:prstGeom prst="roundRect">
            <a:avLst/>
          </a:prstGeom>
          <a:solidFill>
            <a:srgbClr val="FEE2E2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93024" y="1527048"/>
            <a:ext cx="3227832" cy="417880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50" b="1">
                <a:solidFill>
                  <a:srgbClr val="DC2626"/>
                </a:solidFill>
                <a:latin typeface="Arial"/>
              </a:defRPr>
            </a:pPr>
            <a:r>
              <a:t>Čo riešenie nesmie robiť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automaticky rozhodovať za používateľa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obchádzať prístupové práva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meniť produkčné dáta bez schválenia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vydávať nepodložené tvrdenia za fakty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spracovať citlivé dáta mimo schválenej politiky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1940" y="6473952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475569"/>
                </a:solidFill>
                <a:latin typeface="Arial"/>
              </a:defRPr>
            </a:pPr>
            <a:r>
              <a:rPr dirty="0" err="1"/>
              <a:t>Interný</a:t>
            </a:r>
            <a:r>
              <a:rPr dirty="0"/>
              <a:t> AI </a:t>
            </a:r>
            <a:r>
              <a:rPr dirty="0" err="1"/>
              <a:t>asistent</a:t>
            </a:r>
            <a:r>
              <a:rPr dirty="0"/>
              <a:t> – 10 min. </a:t>
            </a:r>
            <a:r>
              <a:rPr dirty="0" err="1"/>
              <a:t>obhajoba</a:t>
            </a:r>
            <a:r>
              <a:rPr dirty="0"/>
              <a:t> </a:t>
            </a:r>
            <a:r>
              <a:rPr dirty="0" err="1"/>
              <a:t>riešenia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475569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3053"/>
                </a:solidFill>
                <a:latin typeface="Arial"/>
              </a:defRPr>
            </a:pPr>
            <a:r>
              <a:t>2. High-level architektúra riešenia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75569"/>
                </a:solidFill>
                <a:latin typeface="Arial"/>
              </a:defRPr>
            </a:pPr>
            <a:r>
              <a:t>Architektúra je vrstvená: security a governance sú mimo LLM, nie iba v prompte.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155680" cy="1828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141732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User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1417320"/>
            <a:ext cx="160020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Frontend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1417320"/>
            <a:ext cx="182880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API Gateway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417320"/>
            <a:ext cx="1920240" cy="411480"/>
          </a:xfrm>
          <a:prstGeom prst="roundRect">
            <a:avLst/>
          </a:prstGeom>
          <a:solidFill>
            <a:srgbClr val="14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Orchestrator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417320"/>
            <a:ext cx="1600200" cy="411480"/>
          </a:xfrm>
          <a:prstGeom prst="roundRect">
            <a:avLst/>
          </a:prstGeom>
          <a:solidFill>
            <a:srgbClr val="14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Modely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75520" y="1417320"/>
            <a:ext cx="1783080" cy="411480"/>
          </a:xfrm>
          <a:prstGeom prst="roundRect">
            <a:avLst/>
          </a:prstGeom>
          <a:solidFill>
            <a:srgbClr val="14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Zdroje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1627632"/>
            <a:ext cx="9144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611880" y="1627632"/>
            <a:ext cx="137159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577840" y="1627632"/>
            <a:ext cx="18288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680960" y="1627632"/>
            <a:ext cx="32004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601200" y="1627632"/>
            <a:ext cx="27432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58368" y="2176272"/>
            <a:ext cx="1965960" cy="114300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2286000"/>
            <a:ext cx="1673351" cy="97840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50" b="1">
                <a:solidFill>
                  <a:srgbClr val="143053"/>
                </a:solidFill>
                <a:latin typeface="Arial"/>
              </a:defRPr>
            </a:pPr>
            <a:r>
              <a:t>Security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Entra ID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RBAC / ABAC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Access packages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70632" y="2176272"/>
            <a:ext cx="2057400" cy="114300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916936" y="2286000"/>
            <a:ext cx="1764792" cy="97840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50" b="1">
                <a:solidFill>
                  <a:srgbClr val="143053"/>
                </a:solidFill>
                <a:latin typeface="Arial"/>
              </a:defRPr>
            </a:pPr>
            <a:r>
              <a:t>Policy Enforcement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claims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data classification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tool permissions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3480" y="2176272"/>
            <a:ext cx="2331720" cy="114300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29784" y="2286000"/>
            <a:ext cx="2039112" cy="97840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50" b="1">
                <a:solidFill>
                  <a:srgbClr val="143053"/>
                </a:solidFill>
                <a:latin typeface="Arial"/>
              </a:defRPr>
            </a:pPr>
            <a:r>
              <a:t>Context Engineering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RAG builder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prompt templates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source metadata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2176272"/>
            <a:ext cx="1828800" cy="1143000"/>
          </a:xfrm>
          <a:prstGeom prst="roundRect">
            <a:avLst/>
          </a:prstGeom>
          <a:solidFill>
            <a:srgbClr val="DCFCE7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44383" y="2286000"/>
            <a:ext cx="1536192" cy="97840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50" b="1">
                <a:solidFill>
                  <a:srgbClr val="143053"/>
                </a:solidFill>
                <a:latin typeface="Arial"/>
              </a:defRPr>
            </a:pPr>
            <a:r>
              <a:t>Model Router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local / cloud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citlivosť dát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kvalita vs. cost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55480" y="2176272"/>
            <a:ext cx="2011680" cy="1143000"/>
          </a:xfrm>
          <a:prstGeom prst="roundRect">
            <a:avLst/>
          </a:prstGeom>
          <a:solidFill>
            <a:srgbClr val="DCFCE7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701784" y="2286000"/>
            <a:ext cx="1719072" cy="97840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50" b="1">
                <a:solidFill>
                  <a:srgbClr val="143053"/>
                </a:solidFill>
                <a:latin typeface="Arial"/>
              </a:defRPr>
            </a:pPr>
            <a:r>
              <a:t>MCP / APIs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SharePoint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DB systémy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Jira / ERP / CRM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886200"/>
            <a:ext cx="10927080" cy="1051560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EA580C"/>
                </a:solidFill>
                <a:latin typeface="Arial"/>
              </a:defRPr>
            </a:pPr>
            <a:r>
              <a:t>AI Governance &amp; Quality Layer: Input/Context Verifier  →  Output Verifier  →  Scoring Agent  →  Human-in-the-loop  →  Audit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51560" y="5413248"/>
            <a:ext cx="10012680" cy="47548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LLM nesmie rozhodovať o oprávneniach. Oprávnenia sa vynucujú deterministicky mimo modelu.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3227165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rPr dirty="0" err="1"/>
              <a:t>I</a:t>
            </a:r>
            <a:r>
              <a:rPr lang="en-US" dirty="0" err="1"/>
              <a:t>Interný</a:t>
            </a:r>
            <a:r>
              <a:rPr lang="en-US" dirty="0"/>
              <a:t> AI </a:t>
            </a:r>
            <a:r>
              <a:rPr lang="en-US" dirty="0" err="1"/>
              <a:t>asistent</a:t>
            </a:r>
            <a:r>
              <a:rPr lang="en-US" dirty="0"/>
              <a:t> – . </a:t>
            </a:r>
            <a:r>
              <a:rPr lang="en-US" dirty="0" err="1"/>
              <a:t>obhajoba</a:t>
            </a:r>
            <a:r>
              <a:rPr lang="en-US" dirty="0"/>
              <a:t> </a:t>
            </a:r>
            <a:r>
              <a:rPr lang="en-US" dirty="0" err="1"/>
              <a:t>riešenia</a:t>
            </a:r>
            <a:r>
              <a:rPr lang="en-US" dirty="0"/>
              <a:t>, Marek Matonok 2026</a:t>
            </a:r>
          </a:p>
          <a:p>
            <a:pPr algn="l">
              <a:defRPr sz="850">
                <a:solidFill>
                  <a:srgbClr val="475569"/>
                </a:solidFill>
                <a:latin typeface="Arial"/>
              </a:defRPr>
            </a:pPr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11064240" y="6473952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475569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3053"/>
                </a:solidFill>
                <a:latin typeface="Arial"/>
              </a:defRPr>
            </a:pPr>
            <a:r>
              <a:t>3. Runtime flow – ako vzniká odpoveď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155680" cy="1828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4114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61288" y="1344168"/>
            <a:ext cx="2148840" cy="86868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07592" y="1453895"/>
            <a:ext cx="1856232" cy="70408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Arial"/>
              </a:defRPr>
            </a:pPr>
            <a:r>
              <a:t>Otázka používateľa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337560" y="1572768"/>
            <a:ext cx="201168" cy="0"/>
          </a:xfrm>
          <a:prstGeom prst="line">
            <a:avLst/>
          </a:prstGeom>
          <a:ln w="152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520440" y="1417320"/>
            <a:ext cx="4114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95928" y="1344168"/>
            <a:ext cx="2148840" cy="86868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42232" y="1453895"/>
            <a:ext cx="1856232" cy="70408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Arial"/>
              </a:defRPr>
            </a:pPr>
            <a:r>
              <a:t>AuthN/AuthZ + policy check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72200" y="1572768"/>
            <a:ext cx="201168" cy="0"/>
          </a:xfrm>
          <a:prstGeom prst="line">
            <a:avLst/>
          </a:prstGeom>
          <a:ln w="152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355080" y="1417320"/>
            <a:ext cx="4114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30568" y="1344168"/>
            <a:ext cx="2148840" cy="86868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76872" y="1453895"/>
            <a:ext cx="1856232" cy="70408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Arial"/>
              </a:defRPr>
            </a:pPr>
            <a:r>
              <a:t>Input &amp; context verification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006840" y="1572768"/>
            <a:ext cx="201168" cy="0"/>
          </a:xfrm>
          <a:prstGeom prst="line">
            <a:avLst/>
          </a:prstGeom>
          <a:ln w="152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89720" y="1417320"/>
            <a:ext cx="4114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65208" y="1344168"/>
            <a:ext cx="2148840" cy="86868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11512" y="1453895"/>
            <a:ext cx="1856232" cy="70408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Arial"/>
              </a:defRPr>
            </a:pPr>
            <a:r>
              <a:t>Permission-aware retrieval / MCP tools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291839"/>
            <a:ext cx="4114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61288" y="3218687"/>
            <a:ext cx="2148840" cy="86868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07592" y="3328415"/>
            <a:ext cx="1856232" cy="70408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Arial"/>
              </a:defRPr>
            </a:pPr>
            <a:r>
              <a:t>Model routing + odpoveď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337560" y="3447287"/>
            <a:ext cx="201168" cy="0"/>
          </a:xfrm>
          <a:prstGeom prst="line">
            <a:avLst/>
          </a:prstGeom>
          <a:ln w="152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520440" y="3291839"/>
            <a:ext cx="4114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95928" y="3218687"/>
            <a:ext cx="2148840" cy="86868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42232" y="3328415"/>
            <a:ext cx="1856232" cy="70408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Arial"/>
              </a:defRPr>
            </a:pPr>
            <a:r>
              <a:t>Output verifier + scoring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172200" y="3447287"/>
            <a:ext cx="201168" cy="0"/>
          </a:xfrm>
          <a:prstGeom prst="line">
            <a:avLst/>
          </a:prstGeom>
          <a:ln w="152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355080" y="3291839"/>
            <a:ext cx="4114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30568" y="3218687"/>
            <a:ext cx="2148840" cy="86868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76872" y="3328415"/>
            <a:ext cx="1856232" cy="70408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Arial"/>
              </a:defRPr>
            </a:pPr>
            <a:r>
              <a:t>Human review pri riziku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006840" y="3447287"/>
            <a:ext cx="201168" cy="0"/>
          </a:xfrm>
          <a:prstGeom prst="line">
            <a:avLst/>
          </a:prstGeom>
          <a:ln w="152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189720" y="3291839"/>
            <a:ext cx="4114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65208" y="3218687"/>
            <a:ext cx="2148840" cy="86868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811512" y="3328415"/>
            <a:ext cx="1856232" cy="70408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Arial"/>
              </a:defRPr>
            </a:pPr>
            <a:r>
              <a:t>Odpoveď so zdrojmi + audit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418320" y="1828800"/>
            <a:ext cx="0" cy="1143000"/>
          </a:xfrm>
          <a:prstGeom prst="line">
            <a:avLst/>
          </a:prstGeom>
          <a:ln w="152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8549640" y="3246120"/>
            <a:ext cx="274320" cy="0"/>
          </a:xfrm>
          <a:prstGeom prst="line">
            <a:avLst/>
          </a:prstGeom>
          <a:ln w="152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5715000" y="3246120"/>
            <a:ext cx="274320" cy="0"/>
          </a:xfrm>
          <a:prstGeom prst="line">
            <a:avLst/>
          </a:prstGeom>
          <a:ln w="152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2880360" y="3246120"/>
            <a:ext cx="274320" cy="0"/>
          </a:xfrm>
          <a:prstGeom prst="line">
            <a:avLst/>
          </a:prstGeom>
          <a:ln w="152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14400" y="5440680"/>
            <a:ext cx="10332720" cy="73152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60704" y="5550408"/>
            <a:ext cx="10040112" cy="56692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50" b="1">
                <a:solidFill>
                  <a:srgbClr val="143053"/>
                </a:solidFill>
                <a:latin typeface="Arial"/>
              </a:defRPr>
            </a:pPr>
            <a:r>
              <a:t>Kľúčový princíp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Do modelu sa dostanú iba dáta, ktoré používateľ môže vidieť; nepodložené alebo rizikové odpovede sa odmietnu alebo eskalujú.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473952"/>
            <a:ext cx="3227165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rPr dirty="0" err="1"/>
              <a:t>I</a:t>
            </a:r>
            <a:r>
              <a:rPr lang="en-US" dirty="0" err="1"/>
              <a:t>Interný</a:t>
            </a:r>
            <a:r>
              <a:rPr lang="en-US" dirty="0"/>
              <a:t> AI </a:t>
            </a:r>
            <a:r>
              <a:rPr lang="en-US" dirty="0" err="1"/>
              <a:t>asistent</a:t>
            </a:r>
            <a:r>
              <a:rPr lang="en-US" dirty="0"/>
              <a:t> – . </a:t>
            </a:r>
            <a:r>
              <a:rPr lang="en-US" dirty="0" err="1"/>
              <a:t>obhajoba</a:t>
            </a:r>
            <a:r>
              <a:rPr lang="en-US" dirty="0"/>
              <a:t> </a:t>
            </a:r>
            <a:r>
              <a:rPr lang="en-US" dirty="0" err="1"/>
              <a:t>riešenia</a:t>
            </a:r>
            <a:r>
              <a:rPr lang="en-US" dirty="0"/>
              <a:t>, Marek Matonok 2026</a:t>
            </a:r>
          </a:p>
          <a:p>
            <a:pPr algn="l">
              <a:defRPr sz="850">
                <a:solidFill>
                  <a:srgbClr val="475569"/>
                </a:solidFill>
                <a:latin typeface="Arial"/>
              </a:defRPr>
            </a:pPr>
            <a:endParaRPr dirty="0"/>
          </a:p>
        </p:txBody>
      </p:sp>
      <p:sp>
        <p:nvSpPr>
          <p:cNvPr id="41" name="TextBox 40"/>
          <p:cNvSpPr txBox="1"/>
          <p:nvPr/>
        </p:nvSpPr>
        <p:spPr>
          <a:xfrm>
            <a:off x="11064240" y="6473952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475569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3053"/>
                </a:solidFill>
                <a:latin typeface="Arial"/>
              </a:defRPr>
            </a:pPr>
            <a:r>
              <a:t>4. Permission-aware RAG a práca s dokumentmi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155680" cy="1828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3108960" cy="452628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2104" y="1481328"/>
            <a:ext cx="2816352" cy="436168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50" b="1">
                <a:solidFill>
                  <a:srgbClr val="143053"/>
                </a:solidFill>
                <a:latin typeface="Arial"/>
              </a:defRPr>
            </a:pPr>
            <a:r>
              <a:t>Document processing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ingest zo SharePointu, portálov a DB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chunking + embeddings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verzia, vlastník, zdroj, validita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data classification a retention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1371600"/>
            <a:ext cx="3566160" cy="452628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06824" y="1481328"/>
            <a:ext cx="3273552" cy="436168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50" b="1">
                <a:solidFill>
                  <a:srgbClr val="143053"/>
                </a:solidFill>
                <a:latin typeface="Arial"/>
              </a:defRPr>
            </a:pPr>
            <a:r>
              <a:t>ACL metadata na chunku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document_id, source_system, source_url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acl_groups / acl_users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classification, owner, department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valid_from / valid_to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retention policy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371600"/>
            <a:ext cx="3246120" cy="4526280"/>
          </a:xfrm>
          <a:prstGeom prst="roundRect">
            <a:avLst/>
          </a:prstGeom>
          <a:solidFill>
            <a:srgbClr val="DCFCE7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38744" y="1481328"/>
            <a:ext cx="2953512" cy="436168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50" b="1">
                <a:solidFill>
                  <a:srgbClr val="16A34A"/>
                </a:solidFill>
                <a:latin typeface="Arial"/>
              </a:defRPr>
            </a:pPr>
            <a:r>
              <a:t>Retrieval pravidlo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1. načítať claims používateľa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2. aplikovať ACL pre-filter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3. hľadať len v povolenom scope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4. vrátiť chunks so zdrojmi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5. auditovať dokumenty použité v odpovedi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5989320"/>
            <a:ext cx="10287000" cy="41148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50" b="1">
                <a:solidFill>
                  <a:srgbClr val="FFFFFF"/>
                </a:solidFill>
                <a:latin typeface="Arial"/>
              </a:defRPr>
            </a:pPr>
            <a:r>
              <a:t>Nesprávny vzor: retrieve všetko → nech model vyfiltruje. Správny vzor: filter pred retrievalom.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3196709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rPr lang="en-US" dirty="0" err="1"/>
              <a:t>Interný</a:t>
            </a:r>
            <a:r>
              <a:rPr lang="en-US" dirty="0"/>
              <a:t> AI </a:t>
            </a:r>
            <a:r>
              <a:rPr lang="en-US" dirty="0" err="1"/>
              <a:t>asistent</a:t>
            </a:r>
            <a:r>
              <a:rPr lang="en-US" dirty="0"/>
              <a:t> – . </a:t>
            </a:r>
            <a:r>
              <a:rPr lang="en-US" dirty="0" err="1"/>
              <a:t>obhajoba</a:t>
            </a:r>
            <a:r>
              <a:rPr lang="en-US" dirty="0"/>
              <a:t> </a:t>
            </a:r>
            <a:r>
              <a:rPr lang="en-US" dirty="0" err="1"/>
              <a:t>riešenia</a:t>
            </a:r>
            <a:r>
              <a:rPr lang="en-US" dirty="0"/>
              <a:t>, Marek Matonok 2026</a:t>
            </a:r>
          </a:p>
          <a:p>
            <a:pPr algn="l">
              <a:defRPr sz="850">
                <a:solidFill>
                  <a:srgbClr val="475569"/>
                </a:solidFill>
                <a:latin typeface="Arial"/>
              </a:defRPr>
            </a:pP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475569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3053"/>
                </a:solidFill>
                <a:latin typeface="Arial"/>
              </a:defRPr>
            </a:pPr>
            <a:r>
              <a:t>5. Security, governance a audit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155680" cy="1828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2743200" cy="443484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6384" y="1435607"/>
            <a:ext cx="2450592" cy="42702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50" b="1">
                <a:solidFill>
                  <a:srgbClr val="143053"/>
                </a:solidFill>
                <a:latin typeface="Arial"/>
              </a:defRPr>
            </a:pPr>
            <a:r>
              <a:t>Security controls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Entra ID a delegated identity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policy enforcement pred tools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DLP / PII / secrets redaction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tool allowlist a approval gates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network isolation podľa citlivosti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1880" y="1325880"/>
            <a:ext cx="2743200" cy="443484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58184" y="1435607"/>
            <a:ext cx="2450592" cy="42702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50" b="1">
                <a:solidFill>
                  <a:srgbClr val="143053"/>
                </a:solidFill>
                <a:latin typeface="Arial"/>
              </a:defRPr>
            </a:pPr>
            <a:r>
              <a:t>Governance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business owner pre use case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data owner pre zdroj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AI/platform owner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risk/compliance review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change management pre modely a prompty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325880"/>
            <a:ext cx="4709160" cy="2011680"/>
          </a:xfrm>
          <a:prstGeom prst="roundRect">
            <a:avLst/>
          </a:prstGeom>
          <a:solidFill>
            <a:srgbClr val="DCFCE7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29984" y="1435607"/>
            <a:ext cx="4416552" cy="12875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50" b="1">
                <a:solidFill>
                  <a:srgbClr val="16A34A"/>
                </a:solidFill>
                <a:latin typeface="Arial"/>
              </a:defRPr>
            </a:pPr>
            <a:r>
              <a:rPr dirty="0" err="1"/>
              <a:t>Auditovať</a:t>
            </a:r>
            <a:r>
              <a:rPr dirty="0"/>
              <a:t> </a:t>
            </a:r>
            <a:r>
              <a:rPr dirty="0" err="1"/>
              <a:t>vždy</a:t>
            </a:r>
            <a:endParaRPr dirty="0"/>
          </a:p>
          <a:p>
            <a:pPr>
              <a:spcAft>
                <a:spcPts val="200"/>
              </a:spcAft>
              <a:defRPr sz="1150">
                <a:solidFill>
                  <a:srgbClr val="0F172A"/>
                </a:solidFill>
                <a:latin typeface="Arial"/>
              </a:defRPr>
            </a:pPr>
            <a:r>
              <a:rPr dirty="0"/>
              <a:t>• user/session/request id</a:t>
            </a:r>
          </a:p>
          <a:p>
            <a:pPr>
              <a:spcAft>
                <a:spcPts val="200"/>
              </a:spcAft>
              <a:defRPr sz="1150">
                <a:solidFill>
                  <a:srgbClr val="0F172A"/>
                </a:solidFill>
                <a:latin typeface="Arial"/>
              </a:defRPr>
            </a:pPr>
            <a:r>
              <a:rPr dirty="0"/>
              <a:t>• model a prompt template version</a:t>
            </a:r>
          </a:p>
          <a:p>
            <a:pPr>
              <a:spcAft>
                <a:spcPts val="200"/>
              </a:spcAft>
              <a:defRPr sz="1150">
                <a:solidFill>
                  <a:srgbClr val="0F172A"/>
                </a:solidFill>
                <a:latin typeface="Arial"/>
              </a:defRPr>
            </a:pPr>
            <a:r>
              <a:rPr dirty="0"/>
              <a:t>• tool calls a source systems</a:t>
            </a:r>
          </a:p>
          <a:p>
            <a:pPr>
              <a:spcAft>
                <a:spcPts val="200"/>
              </a:spcAft>
              <a:defRPr sz="1150">
                <a:solidFill>
                  <a:srgbClr val="0F172A"/>
                </a:solidFill>
                <a:latin typeface="Arial"/>
              </a:defRPr>
            </a:pPr>
            <a:r>
              <a:rPr dirty="0"/>
              <a:t>• document ids/chunk ids</a:t>
            </a:r>
          </a:p>
          <a:p>
            <a:pPr>
              <a:spcAft>
                <a:spcPts val="200"/>
              </a:spcAft>
              <a:defRPr sz="1150">
                <a:solidFill>
                  <a:srgbClr val="0F172A"/>
                </a:solidFill>
                <a:latin typeface="Arial"/>
              </a:defRPr>
            </a:pPr>
            <a:r>
              <a:rPr dirty="0"/>
              <a:t>• authorization decision a scoring result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3749039"/>
            <a:ext cx="4709160" cy="2011680"/>
          </a:xfrm>
          <a:prstGeom prst="roundRect">
            <a:avLst/>
          </a:prstGeom>
          <a:solidFill>
            <a:srgbClr val="FEE2E2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29984" y="3858768"/>
            <a:ext cx="4416552" cy="184708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50" b="1">
                <a:solidFill>
                  <a:srgbClr val="DC2626"/>
                </a:solidFill>
                <a:latin typeface="Arial"/>
              </a:defRPr>
            </a:pPr>
            <a:r>
              <a:t>Logovať opatrne / redigovane</a:t>
            </a:r>
          </a:p>
          <a:p>
            <a:pPr>
              <a:spcAft>
                <a:spcPts val="200"/>
              </a:spcAft>
              <a:defRPr sz="1150">
                <a:solidFill>
                  <a:srgbClr val="0F172A"/>
                </a:solidFill>
                <a:latin typeface="Arial"/>
              </a:defRPr>
            </a:pPr>
            <a:r>
              <a:t>• raw prompt, raw chunks, raw answer</a:t>
            </a:r>
          </a:p>
          <a:p>
            <a:pPr>
              <a:spcAft>
                <a:spcPts val="200"/>
              </a:spcAft>
              <a:defRPr sz="1150">
                <a:solidFill>
                  <a:srgbClr val="0F172A"/>
                </a:solidFill>
                <a:latin typeface="Arial"/>
              </a:defRPr>
            </a:pPr>
            <a:r>
              <a:t>• osobné údaje, tajomstvá, finančné údaje</a:t>
            </a:r>
          </a:p>
          <a:p>
            <a:pPr>
              <a:spcAft>
                <a:spcPts val="200"/>
              </a:spcAft>
              <a:defRPr sz="1150">
                <a:solidFill>
                  <a:srgbClr val="0F172A"/>
                </a:solidFill>
                <a:latin typeface="Arial"/>
              </a:defRPr>
            </a:pPr>
            <a:r>
              <a:t>• retencia, legal hold, SIEM integrácia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3227165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rPr dirty="0" err="1"/>
              <a:t>I</a:t>
            </a:r>
            <a:r>
              <a:rPr lang="en-US" dirty="0" err="1"/>
              <a:t>Interný</a:t>
            </a:r>
            <a:r>
              <a:rPr lang="en-US" dirty="0"/>
              <a:t> AI </a:t>
            </a:r>
            <a:r>
              <a:rPr lang="en-US" dirty="0" err="1"/>
              <a:t>asistent</a:t>
            </a:r>
            <a:r>
              <a:rPr lang="en-US" dirty="0"/>
              <a:t> – . </a:t>
            </a:r>
            <a:r>
              <a:rPr lang="en-US" dirty="0" err="1"/>
              <a:t>obhajoba</a:t>
            </a:r>
            <a:r>
              <a:rPr lang="en-US" dirty="0"/>
              <a:t> </a:t>
            </a:r>
            <a:r>
              <a:rPr lang="en-US" dirty="0" err="1"/>
              <a:t>riešenia</a:t>
            </a:r>
            <a:r>
              <a:rPr lang="en-US" dirty="0"/>
              <a:t>, Marek Matonok 2026</a:t>
            </a:r>
          </a:p>
          <a:p>
            <a:pPr algn="l">
              <a:defRPr sz="850">
                <a:solidFill>
                  <a:srgbClr val="475569"/>
                </a:solidFill>
                <a:latin typeface="Arial"/>
              </a:defRPr>
            </a:pP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11064240" y="6473952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475569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3053"/>
                </a:solidFill>
                <a:latin typeface="Arial"/>
              </a:defRPr>
            </a:pPr>
            <a:r>
              <a:t>6. Kvalita odpovedí, scoring a human-in-the-loop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155680" cy="1828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108960" cy="43434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2104" y="1435607"/>
            <a:ext cx="2816352" cy="155683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50" b="1">
                <a:solidFill>
                  <a:srgbClr val="143053"/>
                </a:solidFill>
                <a:latin typeface="Arial"/>
              </a:defRPr>
            </a:pPr>
            <a:r>
              <a:rPr dirty="0"/>
              <a:t>Output verifier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kontrola</a:t>
            </a:r>
            <a:r>
              <a:rPr dirty="0"/>
              <a:t> </a:t>
            </a:r>
            <a:r>
              <a:rPr dirty="0" err="1"/>
              <a:t>tvrdení</a:t>
            </a:r>
            <a:r>
              <a:rPr dirty="0"/>
              <a:t> </a:t>
            </a:r>
            <a:r>
              <a:rPr dirty="0" err="1"/>
              <a:t>voči</a:t>
            </a:r>
            <a:r>
              <a:rPr dirty="0"/>
              <a:t> </a:t>
            </a:r>
            <a:r>
              <a:rPr dirty="0" err="1"/>
              <a:t>zdrojom</a:t>
            </a:r>
            <a:endParaRPr dirty="0"/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rPr dirty="0"/>
              <a:t>• supported / partial / unsupported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citácie</a:t>
            </a:r>
            <a:r>
              <a:rPr dirty="0"/>
              <a:t> </a:t>
            </a:r>
            <a:r>
              <a:rPr dirty="0" err="1"/>
              <a:t>nestačia</a:t>
            </a:r>
            <a:r>
              <a:rPr dirty="0"/>
              <a:t> – </a:t>
            </a:r>
            <a:r>
              <a:rPr dirty="0" err="1"/>
              <a:t>zdroj</a:t>
            </a:r>
            <a:r>
              <a:rPr dirty="0"/>
              <a:t> </a:t>
            </a:r>
            <a:r>
              <a:rPr dirty="0" err="1"/>
              <a:t>musí</a:t>
            </a:r>
            <a:r>
              <a:rPr dirty="0"/>
              <a:t> </a:t>
            </a:r>
            <a:r>
              <a:rPr dirty="0" err="1"/>
              <a:t>tvrdenie</a:t>
            </a:r>
            <a:r>
              <a:rPr dirty="0"/>
              <a:t> </a:t>
            </a:r>
            <a:r>
              <a:rPr dirty="0" err="1"/>
              <a:t>podporovať</a:t>
            </a:r>
            <a:endParaRPr dirty="0"/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ak</a:t>
            </a:r>
            <a:r>
              <a:rPr dirty="0"/>
              <a:t> </a:t>
            </a:r>
            <a:r>
              <a:rPr dirty="0" err="1"/>
              <a:t>chýba</a:t>
            </a:r>
            <a:r>
              <a:rPr dirty="0"/>
              <a:t> </a:t>
            </a:r>
            <a:r>
              <a:rPr dirty="0" err="1"/>
              <a:t>zdroj</a:t>
            </a:r>
            <a:r>
              <a:rPr dirty="0"/>
              <a:t>, </a:t>
            </a:r>
            <a:r>
              <a:rPr dirty="0" err="1"/>
              <a:t>systém</a:t>
            </a:r>
            <a:r>
              <a:rPr dirty="0"/>
              <a:t> </a:t>
            </a:r>
            <a:r>
              <a:rPr dirty="0" err="1"/>
              <a:t>prizná</a:t>
            </a:r>
            <a:r>
              <a:rPr dirty="0"/>
              <a:t> l</a:t>
            </a:r>
            <a:r>
              <a:rPr lang="en-US" dirty="0"/>
              <a:t>imit</a:t>
            </a:r>
            <a:endParaRPr lang="sk-SK" dirty="0"/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rPr lang="en-US" dirty="0"/>
              <a:t>• Pou</a:t>
            </a:r>
            <a:r>
              <a:rPr lang="sk-SK" dirty="0"/>
              <a:t>žiť aj pri cache odpovedi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4160520" y="1325880"/>
            <a:ext cx="3291840" cy="434340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06824" y="1435607"/>
            <a:ext cx="2999232" cy="242887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50" b="1">
                <a:solidFill>
                  <a:srgbClr val="143053"/>
                </a:solidFill>
                <a:latin typeface="Arial"/>
              </a:defRPr>
            </a:pPr>
            <a:r>
              <a:rPr dirty="0"/>
              <a:t>Scoring </a:t>
            </a:r>
            <a:r>
              <a:rPr dirty="0" err="1"/>
              <a:t>dimenzie</a:t>
            </a:r>
            <a:endParaRPr dirty="0"/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groundedness</a:t>
            </a:r>
            <a:endParaRPr dirty="0"/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rPr dirty="0"/>
              <a:t>• source coverage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rPr dirty="0"/>
              <a:t>• authorization risk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rPr dirty="0"/>
              <a:t>• prompt injection risk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rPr dirty="0"/>
              <a:t>• PII/data leakage risk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rPr dirty="0"/>
              <a:t>• business criticality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rPr dirty="0"/>
              <a:t>• answer completeness</a:t>
            </a:r>
            <a:endParaRPr lang="sk-SK" dirty="0"/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rPr lang="en-US" dirty="0"/>
              <a:t>•</a:t>
            </a:r>
            <a:r>
              <a:rPr lang="sk-SK" dirty="0"/>
              <a:t>  feedback používateľa pre cache odpovede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250">
                <a:solidFill>
                  <a:srgbClr val="0F172A"/>
                </a:solidFill>
                <a:latin typeface="Arial"/>
              </a:defRPr>
            </a:pP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7818120" y="1325880"/>
            <a:ext cx="3474720" cy="4343400"/>
          </a:xfrm>
          <a:prstGeom prst="roundRect">
            <a:avLst/>
          </a:prstGeom>
          <a:solidFill>
            <a:srgbClr val="FFF7ED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64424" y="1435607"/>
            <a:ext cx="3182112" cy="417880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50" b="1">
                <a:solidFill>
                  <a:srgbClr val="EA580C"/>
                </a:solidFill>
                <a:latin typeface="Arial"/>
              </a:defRPr>
            </a:pPr>
            <a:r>
              <a:t>Routing rozhodnutie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OK → odpoveď používateľovi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unsupported claim → úprava/odmietnutie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vysoké riziko → human approval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PII/secrets → redact/block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auth mismatch → hard block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5897880"/>
            <a:ext cx="9829800" cy="411480"/>
          </a:xfrm>
          <a:prstGeom prst="roundRect">
            <a:avLst/>
          </a:prstGeom>
          <a:solidFill>
            <a:srgbClr val="14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50" b="1">
                <a:solidFill>
                  <a:srgbClr val="FFFFFF"/>
                </a:solidFill>
                <a:latin typeface="Arial"/>
              </a:defRPr>
            </a:pPr>
            <a:r>
              <a:t>Human-in-the-loop je kvalitatívna a riziková kontrola. Nie je náhradou za autorizáciu.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3196709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rPr lang="en-US" dirty="0" err="1"/>
              <a:t>Interný</a:t>
            </a:r>
            <a:r>
              <a:rPr lang="en-US" dirty="0"/>
              <a:t> AI </a:t>
            </a:r>
            <a:r>
              <a:rPr lang="en-US" dirty="0" err="1"/>
              <a:t>asistent</a:t>
            </a:r>
            <a:r>
              <a:rPr lang="en-US" dirty="0"/>
              <a:t> – . </a:t>
            </a:r>
            <a:r>
              <a:rPr lang="en-US" dirty="0" err="1"/>
              <a:t>obhajoba</a:t>
            </a:r>
            <a:r>
              <a:rPr lang="en-US" dirty="0"/>
              <a:t> </a:t>
            </a:r>
            <a:r>
              <a:rPr lang="en-US" dirty="0" err="1"/>
              <a:t>riešenia</a:t>
            </a:r>
            <a:r>
              <a:rPr lang="en-US" dirty="0"/>
              <a:t>, Marek Matonok 2026</a:t>
            </a:r>
          </a:p>
          <a:p>
            <a:pPr algn="l">
              <a:defRPr sz="850">
                <a:solidFill>
                  <a:srgbClr val="475569"/>
                </a:solidFill>
                <a:latin typeface="Arial"/>
              </a:defRPr>
            </a:pP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475569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3053"/>
                </a:solidFill>
                <a:latin typeface="Arial"/>
              </a:defRPr>
            </a:pPr>
            <a:r>
              <a:t>7. Porovnanie alternatív a odporúčanie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155680" cy="1828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2423160" cy="411480"/>
          </a:xfrm>
          <a:prstGeom prst="roundRect">
            <a:avLst/>
          </a:prstGeom>
          <a:solidFill>
            <a:srgbClr val="14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Prístup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325880"/>
            <a:ext cx="2423160" cy="411480"/>
          </a:xfrm>
          <a:prstGeom prst="roundRect">
            <a:avLst/>
          </a:prstGeom>
          <a:solidFill>
            <a:srgbClr val="14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Výhody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97880" y="1325880"/>
            <a:ext cx="2423160" cy="411480"/>
          </a:xfrm>
          <a:prstGeom prst="roundRect">
            <a:avLst/>
          </a:prstGeom>
          <a:solidFill>
            <a:srgbClr val="14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Nevýhody / riziká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1325880"/>
            <a:ext cx="2423160" cy="411480"/>
          </a:xfrm>
          <a:prstGeom prst="roundRect">
            <a:avLst/>
          </a:prstGeom>
          <a:solidFill>
            <a:srgbClr val="14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Vhodnosť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65960"/>
            <a:ext cx="242316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Arial"/>
              </a:defRPr>
            </a:pPr>
            <a:r>
              <a:t>Cloud AI služby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965960"/>
            <a:ext cx="242316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>
                <a:solidFill>
                  <a:srgbClr val="0F172A"/>
                </a:solidFill>
                <a:latin typeface="Arial"/>
              </a:defRPr>
            </a:pPr>
            <a:r>
              <a:t>vysoká kvalita, rýchly štart, škálovanie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7880" y="1965960"/>
            <a:ext cx="242316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>
                <a:solidFill>
                  <a:srgbClr val="0F172A"/>
                </a:solidFill>
                <a:latin typeface="Arial"/>
              </a:defRPr>
            </a:pPr>
            <a:r>
              <a:t>dátová politika, vendor lock-in, cost control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9640" y="1965960"/>
            <a:ext cx="242316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>
                <a:solidFill>
                  <a:srgbClr val="0F172A"/>
                </a:solidFill>
                <a:latin typeface="Arial"/>
              </a:defRPr>
            </a:pPr>
            <a:r>
              <a:t>nízko/stredne citlivé use cases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108960"/>
            <a:ext cx="242316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Arial"/>
              </a:defRPr>
            </a:pPr>
            <a:r>
              <a:t>On-prem / lokálne modely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3108960"/>
            <a:ext cx="242316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>
                <a:solidFill>
                  <a:srgbClr val="0F172A"/>
                </a:solidFill>
                <a:latin typeface="Arial"/>
              </a:defRPr>
            </a:pPr>
            <a:r>
              <a:t>kontrola dát, izolácia, vhodné pre citlivé dáta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80" y="3108960"/>
            <a:ext cx="242316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>
                <a:solidFill>
                  <a:srgbClr val="0F172A"/>
                </a:solidFill>
                <a:latin typeface="Arial"/>
              </a:defRPr>
            </a:pPr>
            <a:r>
              <a:t>nižšia kvalita, infra náklady, MLOps náročnosť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49640" y="3108960"/>
            <a:ext cx="242316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>
                <a:solidFill>
                  <a:srgbClr val="0F172A"/>
                </a:solidFill>
                <a:latin typeface="Arial"/>
              </a:defRPr>
            </a:pPr>
            <a:r>
              <a:t>citlivé a regulované dáta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251960"/>
            <a:ext cx="2423160" cy="960120"/>
          </a:xfrm>
          <a:prstGeom prst="roundRect">
            <a:avLst/>
          </a:prstGeom>
          <a:solidFill>
            <a:srgbClr val="DCFCE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Arial"/>
              </a:defRPr>
            </a:pPr>
            <a:r>
              <a:t>Hybridný prístup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6120" y="4251960"/>
            <a:ext cx="2423160" cy="960120"/>
          </a:xfrm>
          <a:prstGeom prst="roundRect">
            <a:avLst/>
          </a:prstGeom>
          <a:solidFill>
            <a:srgbClr val="DCFCE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Arial"/>
              </a:defRPr>
            </a:pPr>
            <a:r>
              <a:t>balans kvality, bezpečnosti a nákladov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97880" y="4251960"/>
            <a:ext cx="2423160" cy="960120"/>
          </a:xfrm>
          <a:prstGeom prst="roundRect">
            <a:avLst/>
          </a:prstGeom>
          <a:solidFill>
            <a:srgbClr val="DCFCE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Arial"/>
              </a:defRPr>
            </a:pPr>
            <a:r>
              <a:t>vyššia architektonická komplexita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49640" y="4251960"/>
            <a:ext cx="2423160" cy="960120"/>
          </a:xfrm>
          <a:prstGeom prst="roundRect">
            <a:avLst/>
          </a:prstGeom>
          <a:solidFill>
            <a:srgbClr val="DCFCE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Arial"/>
              </a:defRPr>
            </a:pPr>
            <a:r>
              <a:t>odporúčané pre enterprise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623560"/>
            <a:ext cx="1028700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Odporúčanie: hybrid + model routing podľa citlivosti dát, požadovanej kvality a nákladov.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3196709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rPr lang="en-US" dirty="0" err="1"/>
              <a:t>Interný</a:t>
            </a:r>
            <a:r>
              <a:rPr lang="en-US" dirty="0"/>
              <a:t> AI </a:t>
            </a:r>
            <a:r>
              <a:rPr lang="en-US" dirty="0" err="1"/>
              <a:t>asistent</a:t>
            </a:r>
            <a:r>
              <a:rPr lang="en-US" dirty="0"/>
              <a:t> – . </a:t>
            </a:r>
            <a:r>
              <a:rPr lang="en-US" dirty="0" err="1"/>
              <a:t>obhajoba</a:t>
            </a:r>
            <a:r>
              <a:rPr lang="en-US" dirty="0"/>
              <a:t> </a:t>
            </a:r>
            <a:r>
              <a:rPr lang="en-US" dirty="0" err="1"/>
              <a:t>riešenia</a:t>
            </a:r>
            <a:r>
              <a:rPr lang="en-US" dirty="0"/>
              <a:t>, Marek Matonok 2026</a:t>
            </a:r>
          </a:p>
          <a:p>
            <a:pPr algn="l">
              <a:defRPr sz="850">
                <a:solidFill>
                  <a:srgbClr val="475569"/>
                </a:solidFill>
                <a:latin typeface="Arial"/>
              </a:defRPr>
            </a:pPr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475569"/>
                </a:solidFill>
                <a:latin typeface="Arial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3053"/>
                </a:solidFill>
                <a:latin typeface="Arial"/>
              </a:defRPr>
            </a:pPr>
            <a:r>
              <a:t>8. Roadmapa zavedenia – riadená exit kritériami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155680" cy="1828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1600200" cy="214884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2104" y="1938528"/>
            <a:ext cx="1307592" cy="19842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50" b="1">
                <a:solidFill>
                  <a:srgbClr val="143053"/>
                </a:solidFill>
                <a:latin typeface="Arial"/>
              </a:defRPr>
            </a:pPr>
            <a:r>
              <a:t>Discovery</a:t>
            </a:r>
          </a:p>
          <a:p>
            <a:pPr>
              <a:spcAft>
                <a:spcPts val="200"/>
              </a:spcAft>
              <a:defRPr sz="1019">
                <a:solidFill>
                  <a:srgbClr val="0F172A"/>
                </a:solidFill>
                <a:latin typeface="Arial"/>
              </a:defRPr>
            </a:pPr>
            <a:r>
              <a:t>• schválené use cases, zdroje, riziká, vlastníci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13432" y="2880360"/>
            <a:ext cx="182880" cy="0"/>
          </a:xfrm>
          <a:prstGeom prst="line">
            <a:avLst/>
          </a:prstGeom>
          <a:ln w="1397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542032" y="1828800"/>
            <a:ext cx="1600200" cy="214884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88336" y="1938528"/>
            <a:ext cx="1307592" cy="19842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50" b="1">
                <a:solidFill>
                  <a:srgbClr val="143053"/>
                </a:solidFill>
                <a:latin typeface="Arial"/>
              </a:defRPr>
            </a:pPr>
            <a:r>
              <a:t>PoC</a:t>
            </a:r>
          </a:p>
          <a:p>
            <a:pPr>
              <a:spcAft>
                <a:spcPts val="200"/>
              </a:spcAft>
              <a:defRPr sz="1019">
                <a:solidFill>
                  <a:srgbClr val="0F172A"/>
                </a:solidFill>
                <a:latin typeface="Arial"/>
              </a:defRPr>
            </a:pPr>
            <a:r>
              <a:t>• overený permission-aware RAG, citácie, základný audit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69663" y="2880360"/>
            <a:ext cx="182881" cy="0"/>
          </a:xfrm>
          <a:prstGeom prst="line">
            <a:avLst/>
          </a:prstGeom>
          <a:ln w="1397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98264" y="1828800"/>
            <a:ext cx="1600200" cy="2148840"/>
          </a:xfrm>
          <a:prstGeom prst="roundRect">
            <a:avLst/>
          </a:prstGeom>
          <a:solidFill>
            <a:srgbClr val="DCFCE7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44568" y="1938528"/>
            <a:ext cx="1307592" cy="19842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50" b="1">
                <a:solidFill>
                  <a:srgbClr val="143053"/>
                </a:solidFill>
                <a:latin typeface="Arial"/>
              </a:defRPr>
            </a:pPr>
            <a:r>
              <a:t>MVP</a:t>
            </a:r>
          </a:p>
          <a:p>
            <a:pPr>
              <a:spcAft>
                <a:spcPts val="200"/>
              </a:spcAft>
              <a:defRPr sz="1019">
                <a:solidFill>
                  <a:srgbClr val="0F172A"/>
                </a:solidFill>
                <a:latin typeface="Arial"/>
              </a:defRPr>
            </a:pPr>
            <a:r>
              <a:t>• použiteľný asistent pre obmedzenú skupinu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25896" y="2880360"/>
            <a:ext cx="182879" cy="0"/>
          </a:xfrm>
          <a:prstGeom prst="line">
            <a:avLst/>
          </a:prstGeom>
          <a:ln w="1397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254496" y="1828800"/>
            <a:ext cx="1600200" cy="2148840"/>
          </a:xfrm>
          <a:prstGeom prst="roundRect">
            <a:avLst/>
          </a:prstGeom>
          <a:solidFill>
            <a:srgbClr val="DCFCE7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938528"/>
            <a:ext cx="1307592" cy="19842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50" b="1">
                <a:solidFill>
                  <a:srgbClr val="143053"/>
                </a:solidFill>
                <a:latin typeface="Arial"/>
              </a:defRPr>
            </a:pPr>
            <a:r>
              <a:t>Pilot</a:t>
            </a:r>
          </a:p>
          <a:p>
            <a:pPr>
              <a:spcAft>
                <a:spcPts val="200"/>
              </a:spcAft>
              <a:defRPr sz="1019">
                <a:solidFill>
                  <a:srgbClr val="0F172A"/>
                </a:solidFill>
                <a:latin typeface="Arial"/>
              </a:defRPr>
            </a:pPr>
            <a:r>
              <a:t>• metriky kvality, bezpečnosti, adopcie a costov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82127" y="2880360"/>
            <a:ext cx="182881" cy="0"/>
          </a:xfrm>
          <a:prstGeom prst="line">
            <a:avLst/>
          </a:prstGeom>
          <a:ln w="1397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110727" y="1828800"/>
            <a:ext cx="1600200" cy="2148840"/>
          </a:xfrm>
          <a:prstGeom prst="roundRect">
            <a:avLst/>
          </a:prstGeom>
          <a:solidFill>
            <a:srgbClr val="FFF7ED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57031" y="1938528"/>
            <a:ext cx="1307592" cy="19842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50" b="1">
                <a:solidFill>
                  <a:srgbClr val="143053"/>
                </a:solidFill>
                <a:latin typeface="Arial"/>
              </a:defRPr>
            </a:pPr>
            <a:r>
              <a:t>Produkcia</a:t>
            </a:r>
          </a:p>
          <a:p>
            <a:pPr>
              <a:spcAft>
                <a:spcPts val="200"/>
              </a:spcAft>
              <a:defRPr sz="1019">
                <a:solidFill>
                  <a:srgbClr val="0F172A"/>
                </a:solidFill>
                <a:latin typeface="Arial"/>
              </a:defRPr>
            </a:pPr>
            <a:r>
              <a:t>• go/no-go report, runbook, monitoring, support model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738359" y="2880360"/>
            <a:ext cx="182881" cy="0"/>
          </a:xfrm>
          <a:prstGeom prst="line">
            <a:avLst/>
          </a:prstGeom>
          <a:ln w="1397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966959" y="1828800"/>
            <a:ext cx="1600200" cy="2148840"/>
          </a:xfrm>
          <a:prstGeom prst="roundRect">
            <a:avLst/>
          </a:prstGeom>
          <a:solidFill>
            <a:srgbClr val="FFF7ED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113263" y="1938528"/>
            <a:ext cx="1307592" cy="19842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50" b="1">
                <a:solidFill>
                  <a:srgbClr val="143053"/>
                </a:solidFill>
                <a:latin typeface="Arial"/>
              </a:defRPr>
            </a:pPr>
            <a:r>
              <a:t>Rozvoj</a:t>
            </a:r>
          </a:p>
          <a:p>
            <a:pPr>
              <a:spcAft>
                <a:spcPts val="200"/>
              </a:spcAft>
              <a:defRPr sz="1019">
                <a:solidFill>
                  <a:srgbClr val="0F172A"/>
                </a:solidFill>
                <a:latin typeface="Arial"/>
              </a:defRPr>
            </a:pPr>
            <a:r>
              <a:t>• nové zdroje a use cases cez governance proces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800600"/>
            <a:ext cx="10378440" cy="82296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14983" y="4910328"/>
            <a:ext cx="10085832" cy="6583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50" b="1">
                <a:solidFill>
                  <a:srgbClr val="143053"/>
                </a:solidFill>
                <a:latin typeface="Arial"/>
              </a:defRPr>
            </a:pPr>
            <a:r>
              <a:t>Poznámka k harmonogramu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Trvanie závisí od veľkosti tímu, počtu dátových zdrojov a integračnej zložitosti. Preto sú dôležitejšie exit kritériá ako pevné týždne.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3196709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rPr lang="en-US" dirty="0" err="1"/>
              <a:t>Interný</a:t>
            </a:r>
            <a:r>
              <a:rPr lang="en-US" dirty="0"/>
              <a:t> AI </a:t>
            </a:r>
            <a:r>
              <a:rPr lang="en-US" dirty="0" err="1"/>
              <a:t>asistent</a:t>
            </a:r>
            <a:r>
              <a:rPr lang="en-US" dirty="0"/>
              <a:t> – . </a:t>
            </a:r>
            <a:r>
              <a:rPr lang="en-US" dirty="0" err="1"/>
              <a:t>obhajoba</a:t>
            </a:r>
            <a:r>
              <a:rPr lang="en-US" dirty="0"/>
              <a:t> </a:t>
            </a:r>
            <a:r>
              <a:rPr lang="en-US" dirty="0" err="1"/>
              <a:t>riešenia</a:t>
            </a:r>
            <a:r>
              <a:rPr lang="en-US" dirty="0"/>
              <a:t>, Marek Matonok 2026</a:t>
            </a:r>
          </a:p>
          <a:p>
            <a:pPr algn="l">
              <a:defRPr sz="850">
                <a:solidFill>
                  <a:srgbClr val="475569"/>
                </a:solidFill>
                <a:latin typeface="Arial"/>
              </a:defRPr>
            </a:pP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11064240" y="6473952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475569"/>
                </a:solidFill>
                <a:latin typeface="Arial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409919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3053"/>
                </a:solidFill>
                <a:latin typeface="Arial"/>
              </a:defRPr>
            </a:pPr>
            <a:r>
              <a:rPr dirty="0"/>
              <a:t>9. </a:t>
            </a:r>
            <a:r>
              <a:rPr lang="en-US" dirty="0" err="1"/>
              <a:t>Produkcia</a:t>
            </a:r>
            <a:r>
              <a:rPr lang="en-US" dirty="0"/>
              <a:t> – Go/No Go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155680" cy="1828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57800" cy="3794760"/>
          </a:xfrm>
          <a:prstGeom prst="roundRect">
            <a:avLst/>
          </a:prstGeom>
          <a:solidFill>
            <a:srgbClr val="FEE2E2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7824" y="1527048"/>
            <a:ext cx="4965192" cy="136447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50" b="1">
                <a:solidFill>
                  <a:srgbClr val="DC2626"/>
                </a:solidFill>
                <a:latin typeface="Arial"/>
              </a:defRPr>
            </a:pPr>
            <a:r>
              <a:rPr lang="en-US" dirty="0" err="1"/>
              <a:t>Nenasadi</a:t>
            </a:r>
            <a:r>
              <a:rPr lang="sk-SK" dirty="0"/>
              <a:t>ť v prípade ak metrika indikuje</a:t>
            </a:r>
            <a:endParaRPr dirty="0"/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250">
                <a:solidFill>
                  <a:srgbClr val="0F172A"/>
                </a:solidFill>
                <a:latin typeface="Arial"/>
              </a:defRPr>
            </a:pPr>
            <a:r>
              <a:rPr lang="en-US" dirty="0" err="1"/>
              <a:t>agentické</a:t>
            </a:r>
            <a:r>
              <a:rPr lang="en-US" dirty="0"/>
              <a:t> </a:t>
            </a:r>
            <a:r>
              <a:rPr lang="en-US" dirty="0" err="1"/>
              <a:t>volanie</a:t>
            </a:r>
            <a:r>
              <a:rPr lang="en-US" dirty="0"/>
              <a:t> </a:t>
            </a:r>
            <a:r>
              <a:rPr lang="en-US" dirty="0" err="1"/>
              <a:t>interných</a:t>
            </a:r>
            <a:r>
              <a:rPr lang="en-US" dirty="0"/>
              <a:t> </a:t>
            </a:r>
            <a:r>
              <a:rPr lang="en-US" dirty="0" err="1"/>
              <a:t>nástrojov</a:t>
            </a:r>
            <a:r>
              <a:rPr lang="en-US" dirty="0"/>
              <a:t> bez </a:t>
            </a:r>
            <a:r>
              <a:rPr lang="en-US" dirty="0" err="1"/>
              <a:t>vynútenej</a:t>
            </a:r>
            <a:r>
              <a:rPr lang="en-US" dirty="0"/>
              <a:t> </a:t>
            </a:r>
            <a:r>
              <a:rPr lang="en-US" dirty="0" err="1"/>
              <a:t>autorizácie</a:t>
            </a:r>
            <a:endParaRPr lang="en-US" dirty="0"/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250">
                <a:solidFill>
                  <a:srgbClr val="0F172A"/>
                </a:solidFill>
                <a:latin typeface="Arial"/>
              </a:defRPr>
            </a:pPr>
            <a:r>
              <a:rPr lang="en-US" dirty="0"/>
              <a:t>RAG </a:t>
            </a:r>
            <a:r>
              <a:rPr lang="en-US" dirty="0" err="1"/>
              <a:t>nad</a:t>
            </a:r>
            <a:r>
              <a:rPr lang="en-US" dirty="0"/>
              <a:t> </a:t>
            </a:r>
            <a:r>
              <a:rPr lang="en-US" dirty="0" err="1"/>
              <a:t>citlivými</a:t>
            </a:r>
            <a:r>
              <a:rPr lang="en-US" dirty="0"/>
              <a:t> </a:t>
            </a:r>
            <a:r>
              <a:rPr lang="en-US" dirty="0" err="1"/>
              <a:t>dokumentmi</a:t>
            </a:r>
            <a:r>
              <a:rPr lang="en-US" dirty="0"/>
              <a:t> bez permission-aware </a:t>
            </a:r>
            <a:r>
              <a:rPr lang="en-US" dirty="0" err="1"/>
              <a:t>retrievalu</a:t>
            </a:r>
            <a:endParaRPr lang="en-US" dirty="0"/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250">
                <a:solidFill>
                  <a:srgbClr val="0F172A"/>
                </a:solidFill>
                <a:latin typeface="Arial"/>
              </a:defRPr>
            </a:pPr>
            <a:r>
              <a:rPr lang="en-US" dirty="0" err="1"/>
              <a:t>odpovede</a:t>
            </a:r>
            <a:r>
              <a:rPr lang="en-US" dirty="0"/>
              <a:t> bez </a:t>
            </a:r>
            <a:r>
              <a:rPr lang="en-US" dirty="0" err="1"/>
              <a:t>overenia</a:t>
            </a:r>
            <a:r>
              <a:rPr lang="en-US" dirty="0"/>
              <a:t> </a:t>
            </a:r>
            <a:r>
              <a:rPr lang="en-US" dirty="0" err="1"/>
              <a:t>zdrojovej</a:t>
            </a:r>
            <a:r>
              <a:rPr lang="en-US" dirty="0"/>
              <a:t> </a:t>
            </a:r>
            <a:r>
              <a:rPr lang="en-US" dirty="0" err="1"/>
              <a:t>opory</a:t>
            </a:r>
            <a:endParaRPr lang="en-US" dirty="0"/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250">
                <a:solidFill>
                  <a:srgbClr val="0F172A"/>
                </a:solidFill>
                <a:latin typeface="Arial"/>
              </a:defRPr>
            </a:pPr>
            <a:r>
              <a:rPr lang="en-US" dirty="0" err="1"/>
              <a:t>spracovanie</a:t>
            </a:r>
            <a:r>
              <a:rPr lang="en-US" dirty="0"/>
              <a:t> PII bez DLP/</a:t>
            </a:r>
            <a:r>
              <a:rPr lang="en-US" dirty="0" err="1"/>
              <a:t>redakcie</a:t>
            </a:r>
            <a:r>
              <a:rPr lang="en-US" dirty="0"/>
              <a:t> a </a:t>
            </a:r>
            <a:r>
              <a:rPr lang="en-US" dirty="0" err="1"/>
              <a:t>retenčných</a:t>
            </a:r>
            <a:r>
              <a:rPr lang="en-US" dirty="0"/>
              <a:t> </a:t>
            </a:r>
            <a:r>
              <a:rPr lang="en-US" dirty="0" err="1"/>
              <a:t>pravidiel</a:t>
            </a:r>
            <a:endParaRPr lang="en-US" dirty="0"/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250">
                <a:solidFill>
                  <a:srgbClr val="0F172A"/>
                </a:solidFill>
                <a:latin typeface="Arial"/>
              </a:defRPr>
            </a:pPr>
            <a:r>
              <a:rPr lang="en-US" dirty="0"/>
              <a:t>model routing bez </a:t>
            </a:r>
            <a:r>
              <a:rPr lang="en-US" dirty="0" err="1"/>
              <a:t>dátovej</a:t>
            </a:r>
            <a:r>
              <a:rPr lang="en-US" dirty="0"/>
              <a:t> </a:t>
            </a:r>
            <a:r>
              <a:rPr lang="en-US" dirty="0" err="1"/>
              <a:t>klasifikácie</a:t>
            </a:r>
            <a:r>
              <a:rPr lang="en-US" dirty="0"/>
              <a:t> a </a:t>
            </a:r>
            <a:r>
              <a:rPr lang="en-US" dirty="0" err="1"/>
              <a:t>schválenej</a:t>
            </a:r>
            <a:r>
              <a:rPr lang="en-US" dirty="0"/>
              <a:t> </a:t>
            </a:r>
            <a:r>
              <a:rPr lang="en-US" dirty="0" err="1"/>
              <a:t>politiky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6263640" y="1417320"/>
            <a:ext cx="5257800" cy="3794760"/>
          </a:xfrm>
          <a:prstGeom prst="roundRect">
            <a:avLst/>
          </a:prstGeom>
          <a:solidFill>
            <a:srgbClr val="DCFCE7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9944" y="1527048"/>
            <a:ext cx="4965192" cy="3630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50" b="1">
                <a:solidFill>
                  <a:srgbClr val="16A34A"/>
                </a:solidFill>
                <a:latin typeface="Arial"/>
              </a:defRPr>
            </a:pPr>
            <a:r>
              <a:t>Pred produkciou overiť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negatívne testy oprávnení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prompt injection testy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groundedness a eval dataset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DLP/PII leakage testy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auditovateľnosť end-to-end</a:t>
            </a:r>
          </a:p>
          <a:p>
            <a:pPr>
              <a:spcAft>
                <a:spcPts val="2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pilotné metriky a go/no-go report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5623560"/>
            <a:ext cx="10287000" cy="502920"/>
          </a:xfrm>
          <a:prstGeom prst="roundRect">
            <a:avLst/>
          </a:prstGeom>
          <a:solidFill>
            <a:srgbClr val="14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Finálny záver: AI má zrýchliť a zlepšiť prácu, ale zodpovednosť, kontrola a rozhodnutie ostávajú na človeku.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3196709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rPr lang="en-US" dirty="0" err="1"/>
              <a:t>Interný</a:t>
            </a:r>
            <a:r>
              <a:rPr lang="en-US" dirty="0"/>
              <a:t> AI </a:t>
            </a:r>
            <a:r>
              <a:rPr lang="en-US" dirty="0" err="1"/>
              <a:t>asistent</a:t>
            </a:r>
            <a:r>
              <a:rPr lang="en-US" dirty="0"/>
              <a:t> – . </a:t>
            </a:r>
            <a:r>
              <a:rPr lang="en-US" dirty="0" err="1"/>
              <a:t>obhajoba</a:t>
            </a:r>
            <a:r>
              <a:rPr lang="en-US" dirty="0"/>
              <a:t> </a:t>
            </a:r>
            <a:r>
              <a:rPr lang="en-US" dirty="0" err="1"/>
              <a:t>riešenia</a:t>
            </a:r>
            <a:r>
              <a:rPr lang="en-US" dirty="0"/>
              <a:t>, Marek Matonok 2026</a:t>
            </a:r>
          </a:p>
          <a:p>
            <a:pPr algn="l">
              <a:defRPr sz="850">
                <a:solidFill>
                  <a:srgbClr val="475569"/>
                </a:solidFill>
                <a:latin typeface="Arial"/>
              </a:defRPr>
            </a:pP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475569"/>
                </a:solidFill>
                <a:latin typeface="Arial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1179</Words>
  <Application>Microsoft Office PowerPoint</Application>
  <PresentationFormat>Widescreen</PresentationFormat>
  <Paragraphs>217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mmatonok-elkjop.no</dc:creator>
  <cp:keywords/>
  <dc:description>generated using python-pptx</dc:description>
  <cp:lastModifiedBy>Marek Matonok</cp:lastModifiedBy>
  <cp:revision>11</cp:revision>
  <dcterms:created xsi:type="dcterms:W3CDTF">2013-01-27T09:14:16Z</dcterms:created>
  <dcterms:modified xsi:type="dcterms:W3CDTF">2026-05-24T20:14:21Z</dcterms:modified>
  <cp:category/>
</cp:coreProperties>
</file>