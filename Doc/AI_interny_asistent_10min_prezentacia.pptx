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EBB114-AB61-4334-A98E-3570E23ECE30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74C039-4C3F-4A0E-B86E-775EAB413F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0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74C039-4C3F-4A0E-B86E-775EAB413F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115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Návrh architektúry interného AI asistenta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20240"/>
            <a:ext cx="3474720" cy="18288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Cieľ riešenia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zrýchliť prácu s internými informáciami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podporiť analýzu požiadaviek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poskytovať overiteľné odporúčania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18288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t>Základný princíp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AI nerozhoduje za používateľa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odpovede musia byť overiteľné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človek ostáva vlastníkom rozhodnutia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920240"/>
            <a:ext cx="3474720" cy="1828800"/>
          </a:xfrm>
          <a:prstGeom prst="roundRect">
            <a:avLst/>
          </a:prstGeom>
          <a:solidFill>
            <a:srgbClr val="FFEDD5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74736" y="2029968"/>
            <a:ext cx="3182112" cy="16642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EA580C"/>
                </a:solidFill>
                <a:latin typeface="Arial"/>
              </a:defRPr>
            </a:pPr>
            <a:r>
              <a:t>Odporúčanie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hybridný AI prístup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permission-aware RAG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audit, scoring, human-in-the-loop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4343400"/>
            <a:ext cx="10835640" cy="603504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Cieľ nie je „najinteligentnejší chatbot“, ale bezpečný, auditovateľný a použiteľný AI asistent.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166360"/>
            <a:ext cx="10881360" cy="5078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defRPr sz="1350" b="0">
                <a:solidFill>
                  <a:srgbClr val="475569"/>
                </a:solidFill>
                <a:latin typeface="Arial"/>
              </a:defRPr>
            </a:pPr>
            <a:r>
              <a:rPr dirty="0" err="1"/>
              <a:t>Použitie</a:t>
            </a:r>
            <a:r>
              <a:rPr dirty="0"/>
              <a:t> AI</a:t>
            </a:r>
            <a:r>
              <a:rPr lang="en-US" dirty="0"/>
              <a:t> (</a:t>
            </a:r>
            <a:r>
              <a:rPr lang="en-US" dirty="0" err="1"/>
              <a:t>Gpt</a:t>
            </a:r>
            <a:r>
              <a:rPr lang="en-US"/>
              <a:t>/Codex</a:t>
            </a:r>
            <a:r>
              <a:rPr lang="en-US" dirty="0"/>
              <a:t>)</a:t>
            </a:r>
            <a:r>
              <a:rPr dirty="0"/>
              <a:t> </a:t>
            </a:r>
            <a:r>
              <a:rPr dirty="0" err="1"/>
              <a:t>pri</a:t>
            </a:r>
            <a:r>
              <a:rPr dirty="0"/>
              <a:t> </a:t>
            </a:r>
            <a:r>
              <a:rPr dirty="0" err="1"/>
              <a:t>príprave</a:t>
            </a:r>
            <a:r>
              <a:rPr lang="en-US" dirty="0"/>
              <a:t> </a:t>
            </a:r>
            <a:r>
              <a:rPr dirty="0" err="1"/>
              <a:t>na</a:t>
            </a:r>
            <a:r>
              <a:rPr lang="en-US" dirty="0"/>
              <a:t> </a:t>
            </a:r>
            <a:r>
              <a:rPr lang="en-US" dirty="0" err="1"/>
              <a:t>validaciu</a:t>
            </a:r>
            <a:r>
              <a:rPr dirty="0"/>
              <a:t> </a:t>
            </a:r>
            <a:r>
              <a:rPr dirty="0" err="1"/>
              <a:t>štruktúr</a:t>
            </a:r>
            <a:r>
              <a:rPr lang="en-US" dirty="0" err="1"/>
              <a:t>y</a:t>
            </a:r>
            <a:r>
              <a:rPr dirty="0"/>
              <a:t>, </a:t>
            </a:r>
            <a:r>
              <a:rPr lang="en-US" dirty="0"/>
              <a:t>UX,  </a:t>
            </a:r>
            <a:r>
              <a:rPr dirty="0" err="1"/>
              <a:t>alternatívy</a:t>
            </a:r>
            <a:r>
              <a:rPr dirty="0"/>
              <a:t>, </a:t>
            </a:r>
            <a:r>
              <a:rPr dirty="0" err="1"/>
              <a:t>riziká</a:t>
            </a:r>
            <a:r>
              <a:rPr dirty="0"/>
              <a:t> a </a:t>
            </a:r>
            <a:r>
              <a:rPr dirty="0" err="1"/>
              <a:t>kontrolu</a:t>
            </a:r>
            <a:r>
              <a:rPr dirty="0"/>
              <a:t> </a:t>
            </a:r>
            <a:r>
              <a:rPr dirty="0" err="1"/>
              <a:t>konzistencie</a:t>
            </a:r>
            <a:r>
              <a:rPr dirty="0"/>
              <a:t>. </a:t>
            </a:r>
            <a:r>
              <a:rPr dirty="0" err="1"/>
              <a:t>Finálne</a:t>
            </a:r>
            <a:r>
              <a:rPr dirty="0"/>
              <a:t> </a:t>
            </a:r>
            <a:r>
              <a:rPr dirty="0" err="1"/>
              <a:t>rozhodnutia</a:t>
            </a:r>
            <a:r>
              <a:rPr dirty="0"/>
              <a:t> a </a:t>
            </a:r>
            <a:r>
              <a:rPr dirty="0" err="1"/>
              <a:t>zodpovednosť</a:t>
            </a:r>
            <a:r>
              <a:rPr dirty="0"/>
              <a:t> </a:t>
            </a:r>
            <a:r>
              <a:rPr dirty="0" err="1"/>
              <a:t>sú</a:t>
            </a:r>
            <a:r>
              <a:rPr dirty="0"/>
              <a:t> </a:t>
            </a:r>
            <a:r>
              <a:rPr dirty="0" err="1"/>
              <a:t>moje</a:t>
            </a:r>
            <a:r>
              <a:rPr dirty="0"/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319670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Interný</a:t>
            </a:r>
            <a:r>
              <a:rPr dirty="0"/>
              <a:t> AI </a:t>
            </a:r>
            <a:r>
              <a:rPr dirty="0" err="1"/>
              <a:t>asistent</a:t>
            </a:r>
            <a:r>
              <a:rPr dirty="0"/>
              <a:t> – . </a:t>
            </a:r>
            <a:r>
              <a:rPr dirty="0" err="1"/>
              <a:t>obhajoba</a:t>
            </a:r>
            <a:r>
              <a:rPr dirty="0"/>
              <a:t> </a:t>
            </a:r>
            <a:r>
              <a:rPr dirty="0" err="1"/>
              <a:t>riešenia</a:t>
            </a:r>
            <a:r>
              <a:rPr lang="en-US" dirty="0"/>
              <a:t>, Marek Matonok 2026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1. Kontext, use cases a hranice riešenia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520440" cy="434340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527048"/>
            <a:ext cx="3227832" cy="15824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 err="1"/>
              <a:t>Hlavné</a:t>
            </a:r>
            <a:r>
              <a:rPr dirty="0"/>
              <a:t> use cases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vyhľadávanie</a:t>
            </a:r>
            <a:r>
              <a:rPr dirty="0"/>
              <a:t> </a:t>
            </a:r>
            <a:r>
              <a:rPr dirty="0" err="1"/>
              <a:t>smerníc</a:t>
            </a:r>
            <a:r>
              <a:rPr dirty="0"/>
              <a:t>, </a:t>
            </a:r>
            <a:r>
              <a:rPr dirty="0" err="1"/>
              <a:t>metodík</a:t>
            </a:r>
            <a:r>
              <a:rPr dirty="0"/>
              <a:t> a </a:t>
            </a:r>
            <a:r>
              <a:rPr dirty="0" err="1"/>
              <a:t>procesov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sumarizácia</a:t>
            </a:r>
            <a:r>
              <a:rPr dirty="0"/>
              <a:t> </a:t>
            </a:r>
            <a:r>
              <a:rPr dirty="0" err="1"/>
              <a:t>interných</a:t>
            </a:r>
            <a:r>
              <a:rPr dirty="0"/>
              <a:t> </a:t>
            </a:r>
            <a:r>
              <a:rPr dirty="0" err="1"/>
              <a:t>informácií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návrhy</a:t>
            </a:r>
            <a:r>
              <a:rPr dirty="0"/>
              <a:t> </a:t>
            </a:r>
            <a:r>
              <a:rPr dirty="0" err="1"/>
              <a:t>odpovedí</a:t>
            </a:r>
            <a:r>
              <a:rPr dirty="0"/>
              <a:t> a </a:t>
            </a:r>
            <a:r>
              <a:rPr dirty="0" err="1"/>
              <a:t>podkladov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analýza</a:t>
            </a:r>
            <a:r>
              <a:rPr dirty="0"/>
              <a:t> </a:t>
            </a:r>
            <a:r>
              <a:rPr dirty="0" err="1"/>
              <a:t>biznis</a:t>
            </a:r>
            <a:r>
              <a:rPr dirty="0"/>
              <a:t> </a:t>
            </a:r>
            <a:r>
              <a:rPr dirty="0" err="1"/>
              <a:t>požiadaviek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user stories a </a:t>
            </a:r>
            <a:r>
              <a:rPr dirty="0" err="1"/>
              <a:t>akceptačné</a:t>
            </a:r>
            <a:r>
              <a:rPr dirty="0"/>
              <a:t> </a:t>
            </a:r>
            <a:r>
              <a:rPr dirty="0" err="1"/>
              <a:t>kritériá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dopady</a:t>
            </a:r>
            <a:r>
              <a:rPr dirty="0"/>
              <a:t>, </a:t>
            </a:r>
            <a:r>
              <a:rPr dirty="0" err="1"/>
              <a:t>závislosti</a:t>
            </a:r>
            <a:r>
              <a:rPr dirty="0"/>
              <a:t> a </a:t>
            </a:r>
            <a:r>
              <a:rPr dirty="0" err="1"/>
              <a:t>riziká</a:t>
            </a:r>
            <a:endParaRPr lang="sk-SK" dirty="0"/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520440" cy="43434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9704" y="1527048"/>
            <a:ext cx="32278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Cieľoví používatelia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biznis analytici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produktoví vlastníci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architekti a vývojové tímy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prevádzka / infraštruktúra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manažéri a doménoví vlastníci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17320"/>
            <a:ext cx="3520440" cy="434340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527048"/>
            <a:ext cx="322783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rPr dirty="0" err="1"/>
              <a:t>Čo</a:t>
            </a:r>
            <a:r>
              <a:rPr dirty="0"/>
              <a:t> </a:t>
            </a:r>
            <a:r>
              <a:rPr dirty="0" err="1"/>
              <a:t>riešenie</a:t>
            </a:r>
            <a:r>
              <a:rPr dirty="0"/>
              <a:t> </a:t>
            </a:r>
            <a:r>
              <a:rPr dirty="0" err="1"/>
              <a:t>nesmie</a:t>
            </a:r>
            <a:r>
              <a:rPr dirty="0"/>
              <a:t> </a:t>
            </a:r>
            <a:r>
              <a:rPr dirty="0" err="1"/>
              <a:t>robiť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automaticky</a:t>
            </a:r>
            <a:r>
              <a:rPr dirty="0"/>
              <a:t> </a:t>
            </a:r>
            <a:r>
              <a:rPr dirty="0" err="1"/>
              <a:t>rozhodovať</a:t>
            </a:r>
            <a:r>
              <a:rPr dirty="0"/>
              <a:t> za </a:t>
            </a:r>
            <a:r>
              <a:rPr dirty="0" err="1"/>
              <a:t>používateľa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obchádzať</a:t>
            </a:r>
            <a:r>
              <a:rPr dirty="0"/>
              <a:t> </a:t>
            </a:r>
            <a:r>
              <a:rPr dirty="0" err="1"/>
              <a:t>prístupové</a:t>
            </a:r>
            <a:r>
              <a:rPr dirty="0"/>
              <a:t> </a:t>
            </a:r>
            <a:r>
              <a:rPr dirty="0" err="1"/>
              <a:t>práva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meniť</a:t>
            </a:r>
            <a:r>
              <a:rPr dirty="0"/>
              <a:t> </a:t>
            </a:r>
            <a:r>
              <a:rPr dirty="0" err="1"/>
              <a:t>produkčné</a:t>
            </a:r>
            <a:r>
              <a:rPr dirty="0"/>
              <a:t> </a:t>
            </a:r>
            <a:r>
              <a:rPr dirty="0" err="1"/>
              <a:t>dáta</a:t>
            </a:r>
            <a:r>
              <a:rPr dirty="0"/>
              <a:t> bez </a:t>
            </a:r>
            <a:r>
              <a:rPr dirty="0" err="1"/>
              <a:t>schválenia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vydávať</a:t>
            </a:r>
            <a:r>
              <a:rPr dirty="0"/>
              <a:t> </a:t>
            </a:r>
            <a:r>
              <a:rPr dirty="0" err="1"/>
              <a:t>nepodložené</a:t>
            </a:r>
            <a:r>
              <a:rPr dirty="0"/>
              <a:t> </a:t>
            </a:r>
            <a:r>
              <a:rPr dirty="0" err="1"/>
              <a:t>tvrdenia</a:t>
            </a:r>
            <a:r>
              <a:rPr dirty="0"/>
              <a:t> za </a:t>
            </a:r>
            <a:r>
              <a:rPr dirty="0" err="1"/>
              <a:t>fakty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spracovať</a:t>
            </a:r>
            <a:r>
              <a:rPr dirty="0"/>
              <a:t> </a:t>
            </a:r>
            <a:r>
              <a:rPr dirty="0" err="1"/>
              <a:t>citlivé</a:t>
            </a:r>
            <a:r>
              <a:rPr dirty="0"/>
              <a:t> </a:t>
            </a:r>
            <a:r>
              <a:rPr dirty="0" err="1"/>
              <a:t>dáta</a:t>
            </a:r>
            <a:r>
              <a:rPr dirty="0"/>
              <a:t> </a:t>
            </a:r>
            <a:r>
              <a:rPr dirty="0" err="1"/>
              <a:t>mimo</a:t>
            </a:r>
            <a:r>
              <a:rPr dirty="0"/>
              <a:t> </a:t>
            </a:r>
            <a:r>
              <a:rPr dirty="0" err="1"/>
              <a:t>schválenej</a:t>
            </a:r>
            <a:r>
              <a:rPr dirty="0"/>
              <a:t> </a:t>
            </a:r>
            <a:r>
              <a:rPr dirty="0" err="1"/>
              <a:t>politiky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2819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Interný</a:t>
            </a:r>
            <a:r>
              <a:rPr dirty="0"/>
              <a:t> AI </a:t>
            </a:r>
            <a:r>
              <a:rPr dirty="0" err="1"/>
              <a:t>asistent</a:t>
            </a:r>
            <a:r>
              <a:rPr dirty="0"/>
              <a:t> – 10 min. </a:t>
            </a:r>
            <a:r>
              <a:rPr dirty="0" err="1"/>
              <a:t>obhajoba</a:t>
            </a:r>
            <a:r>
              <a:rPr dirty="0"/>
              <a:t> </a:t>
            </a:r>
            <a:r>
              <a:rPr dirty="0" err="1"/>
              <a:t>riešenia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2. High-level architektúra riešenia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68096"/>
            <a:ext cx="4581703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475569"/>
                </a:solidFill>
                <a:latin typeface="Arial"/>
              </a:defRPr>
            </a:pPr>
            <a:r>
              <a:rPr dirty="0" err="1"/>
              <a:t>Architektúra</a:t>
            </a:r>
            <a:r>
              <a:rPr dirty="0"/>
              <a:t> je </a:t>
            </a:r>
            <a:r>
              <a:rPr dirty="0" err="1"/>
              <a:t>vrstvená</a:t>
            </a:r>
            <a:r>
              <a:rPr dirty="0"/>
              <a:t>: security a governance </a:t>
            </a:r>
            <a:r>
              <a:rPr dirty="0" err="1"/>
              <a:t>sú</a:t>
            </a:r>
            <a:r>
              <a:rPr dirty="0"/>
              <a:t> </a:t>
            </a:r>
            <a:r>
              <a:rPr dirty="0" err="1"/>
              <a:t>mimo</a:t>
            </a:r>
            <a:r>
              <a:rPr dirty="0"/>
              <a:t> LLM.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4173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17320"/>
            <a:ext cx="16002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1417320"/>
            <a:ext cx="182880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API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192024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17320"/>
            <a:ext cx="160020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Modely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17320"/>
            <a:ext cx="178308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Zdroje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1627632"/>
            <a:ext cx="9144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611880" y="1627632"/>
            <a:ext cx="137159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77840" y="1627632"/>
            <a:ext cx="18288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680960" y="1627632"/>
            <a:ext cx="32004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01200" y="1627632"/>
            <a:ext cx="27432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58368" y="2176272"/>
            <a:ext cx="1965960" cy="114300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2286000"/>
            <a:ext cx="1673351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Security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Entra ID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RBAC / ABAC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Access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70632" y="2176272"/>
            <a:ext cx="2057400" cy="114300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16936" y="2286000"/>
            <a:ext cx="176479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Policy Enforcement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claims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data classification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rPr dirty="0"/>
              <a:t>• tool permissions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2176272"/>
            <a:ext cx="2331720" cy="11430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9784" y="2286000"/>
            <a:ext cx="203911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Context Engineering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RAG builder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prompt templates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source metadata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2176272"/>
            <a:ext cx="1828800" cy="11430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2286000"/>
            <a:ext cx="153619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Model Router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local / cloud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citlivosť dát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kvalita vs.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55480" y="2176272"/>
            <a:ext cx="2011680" cy="114300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01784" y="2286000"/>
            <a:ext cx="1719072" cy="9784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MCP / APIs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SharePoint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DB systémy</a:t>
            </a:r>
          </a:p>
          <a:p>
            <a:pPr>
              <a:spcAft>
                <a:spcPts val="200"/>
              </a:spcAft>
              <a:defRPr sz="1100">
                <a:solidFill>
                  <a:srgbClr val="0F172A"/>
                </a:solidFill>
                <a:latin typeface="Arial"/>
              </a:defRPr>
            </a:pPr>
            <a:r>
              <a:t>• Jira / ERP / CRM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886200"/>
            <a:ext cx="109270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A580C"/>
                </a:solidFill>
                <a:latin typeface="Arial"/>
              </a:defRPr>
            </a:pPr>
            <a:r>
              <a:t>AI Governance &amp; Quality Layer: Input/Context Verifier  →  Output Verifier  →  Scoring Agent  →  Human-in-the-loop  → 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399592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3. Runtime flow – ako vzniká odpoveď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6128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79392" y="1591054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rPr dirty="0" err="1"/>
              <a:t>Otázka</a:t>
            </a:r>
            <a:r>
              <a:rPr dirty="0"/>
              <a:t> </a:t>
            </a:r>
            <a:r>
              <a:rPr dirty="0" err="1"/>
              <a:t>používateľa</a:t>
            </a:r>
            <a:endParaRPr dirty="0"/>
          </a:p>
        </p:txBody>
      </p:sp>
      <p:cxnSp>
        <p:nvCxnSpPr>
          <p:cNvPr id="7" name="Connector 6"/>
          <p:cNvCxnSpPr/>
          <p:nvPr/>
        </p:nvCxnSpPr>
        <p:spPr>
          <a:xfrm>
            <a:off x="333756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2044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485897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rPr dirty="0" err="1"/>
              <a:t>AuthN</a:t>
            </a:r>
            <a:r>
              <a:rPr dirty="0"/>
              <a:t>/</a:t>
            </a:r>
            <a:r>
              <a:rPr dirty="0" err="1"/>
              <a:t>AuthZ</a:t>
            </a:r>
            <a:r>
              <a:rPr dirty="0"/>
              <a:t> + policy 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5508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7687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Input &amp; context verification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1572768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89720" y="1417320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5208" y="1344168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11512" y="145389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Permission-aware retrieval / MCP tools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128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0759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rPr dirty="0"/>
              <a:t>Model routing + </a:t>
            </a:r>
            <a:r>
              <a:rPr dirty="0" err="1"/>
              <a:t>odpoveď</a:t>
            </a:r>
            <a:endParaRPr dirty="0"/>
          </a:p>
        </p:txBody>
      </p:sp>
      <p:cxnSp>
        <p:nvCxnSpPr>
          <p:cNvPr id="22" name="Connector 21"/>
          <p:cNvCxnSpPr/>
          <p:nvPr/>
        </p:nvCxnSpPr>
        <p:spPr>
          <a:xfrm>
            <a:off x="333756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2044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9592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4223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Output verifier + scoring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7220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5508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3056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97687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Human review pri riziku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06840" y="3447287"/>
            <a:ext cx="201168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189720" y="3291839"/>
            <a:ext cx="41148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65208" y="3218687"/>
            <a:ext cx="2148840" cy="8686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11512" y="3328415"/>
            <a:ext cx="1856232" cy="704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Arial"/>
              </a:defRPr>
            </a:pPr>
            <a:r>
              <a:t>Odpoveď so zdrojmi + audit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18320" y="1828800"/>
            <a:ext cx="0" cy="114300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54964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71500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880360" y="3246120"/>
            <a:ext cx="274320" cy="0"/>
          </a:xfrm>
          <a:prstGeom prst="line">
            <a:avLst/>
          </a:prstGeom>
          <a:ln w="1524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14400" y="5440680"/>
            <a:ext cx="10332720" cy="73152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0704" y="5550408"/>
            <a:ext cx="10040112" cy="5669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Kľúčový princíp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Do modelu sa dostanú iba dáta, ktoré používateľ môže vidieť; nepodložené alebo rizikové odpovede sa odmietnu alebo eskalujú.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41" name="TextBox 40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552615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rPr dirty="0"/>
              <a:t>4. </a:t>
            </a:r>
            <a:r>
              <a:rPr lang="en-US" dirty="0"/>
              <a:t>Document processor flow – pr</a:t>
            </a:r>
            <a:r>
              <a:rPr lang="sk-SK" dirty="0" err="1"/>
              <a:t>íprava</a:t>
            </a:r>
            <a:r>
              <a:rPr lang="sk-SK" dirty="0"/>
              <a:t> pre bezpečné </a:t>
            </a:r>
            <a:r>
              <a:rPr lang="sk-SK" dirty="0" err="1"/>
              <a:t>query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108960" cy="45262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481328"/>
            <a:ext cx="2816352" cy="218521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Document processing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ingest zo </a:t>
            </a:r>
            <a:r>
              <a:rPr dirty="0" err="1"/>
              <a:t>SharePointu</a:t>
            </a:r>
            <a:r>
              <a:rPr dirty="0"/>
              <a:t>, </a:t>
            </a:r>
            <a:r>
              <a:rPr dirty="0" err="1"/>
              <a:t>portálov</a:t>
            </a:r>
            <a:r>
              <a:rPr dirty="0"/>
              <a:t> a DB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chunking + embeddings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verzia</a:t>
            </a:r>
            <a:r>
              <a:rPr dirty="0"/>
              <a:t>, </a:t>
            </a:r>
            <a:r>
              <a:rPr dirty="0" err="1"/>
              <a:t>vlastník</a:t>
            </a:r>
            <a:r>
              <a:rPr dirty="0"/>
              <a:t>, </a:t>
            </a:r>
            <a:r>
              <a:rPr dirty="0" err="1"/>
              <a:t>zdroj</a:t>
            </a:r>
            <a:r>
              <a:rPr dirty="0"/>
              <a:t>, </a:t>
            </a:r>
            <a:r>
              <a:rPr dirty="0" err="1"/>
              <a:t>validita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data classification a retention</a:t>
            </a:r>
            <a:endParaRPr lang="en-US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metadata </a:t>
            </a:r>
            <a:r>
              <a:rPr lang="en-US" dirty="0" err="1"/>
              <a:t>manualne</a:t>
            </a:r>
            <a:r>
              <a:rPr lang="en-US" dirty="0"/>
              <a:t> </a:t>
            </a:r>
            <a:r>
              <a:rPr lang="en-US" dirty="0" err="1"/>
              <a:t>alebo</a:t>
            </a:r>
            <a:r>
              <a:rPr lang="en-US" dirty="0"/>
              <a:t> </a:t>
            </a:r>
            <a:r>
              <a:rPr lang="en-US" dirty="0" err="1"/>
              <a:t>automaticky</a:t>
            </a:r>
            <a:r>
              <a:rPr lang="en-US" dirty="0"/>
              <a:t> ( </a:t>
            </a:r>
            <a:r>
              <a:rPr lang="en-US" dirty="0" err="1"/>
              <a:t>priklad</a:t>
            </a:r>
            <a:r>
              <a:rPr lang="en-US" dirty="0"/>
              <a:t>: MS Purview)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lang="en-US" dirty="0" err="1"/>
              <a:t>notifikacia</a:t>
            </a:r>
            <a:r>
              <a:rPr lang="en-US" dirty="0"/>
              <a:t> a reindexing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zmene</a:t>
            </a:r>
            <a:r>
              <a:rPr lang="en-US" dirty="0"/>
              <a:t> </a:t>
            </a:r>
            <a:r>
              <a:rPr lang="en-US" dirty="0" err="1"/>
              <a:t>dokumentov</a:t>
            </a:r>
            <a:r>
              <a:rPr lang="en-US" dirty="0"/>
              <a:t>/metadata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160520" y="1371600"/>
            <a:ext cx="3566160" cy="452628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06824" y="1481328"/>
            <a:ext cx="3273552" cy="2018501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ACL metadata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chunku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document_id</a:t>
            </a:r>
            <a:r>
              <a:rPr dirty="0"/>
              <a:t>, </a:t>
            </a:r>
            <a:r>
              <a:rPr dirty="0" err="1"/>
              <a:t>source_system</a:t>
            </a:r>
            <a:r>
              <a:rPr dirty="0"/>
              <a:t>, </a:t>
            </a:r>
            <a:r>
              <a:rPr dirty="0" err="1"/>
              <a:t>source_url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acl_groups</a:t>
            </a:r>
            <a:r>
              <a:rPr dirty="0"/>
              <a:t> / </a:t>
            </a:r>
            <a:r>
              <a:rPr dirty="0" err="1"/>
              <a:t>acl_users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classification</a:t>
            </a:r>
            <a:r>
              <a:rPr lang="en-US" dirty="0"/>
              <a:t> ( </a:t>
            </a:r>
            <a:r>
              <a:rPr lang="en-US" dirty="0" err="1"/>
              <a:t>financne</a:t>
            </a:r>
            <a:r>
              <a:rPr lang="en-US" dirty="0"/>
              <a:t>)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sensitivity ( </a:t>
            </a:r>
            <a:r>
              <a:rPr lang="en-US" dirty="0" err="1"/>
              <a:t>priklad</a:t>
            </a:r>
            <a:r>
              <a:rPr lang="en-US" dirty="0"/>
              <a:t>: top secret data)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dirty="0"/>
              <a:t>owner, department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valid_from</a:t>
            </a:r>
            <a:r>
              <a:rPr dirty="0"/>
              <a:t> / </a:t>
            </a:r>
            <a:r>
              <a:rPr dirty="0" err="1"/>
              <a:t>valid_to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retention policy</a:t>
            </a:r>
            <a:endParaRPr lang="en-US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8092440" y="1371600"/>
            <a:ext cx="3246120" cy="452628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38744" y="1481328"/>
            <a:ext cx="2953512" cy="43616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t>Retrieval pravidlo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1. načítať claims používateľa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2. aplikovať ACL pre-filter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3. hľadať len v povolenom scope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4. vrátiť chunks so zdrojmi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5. auditovať dokumenty použité v odpovedi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5. Security, governance a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2743200" cy="44348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86384" y="1436603"/>
            <a:ext cx="2514600" cy="198259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Security controls</a:t>
            </a:r>
            <a:br>
              <a:rPr lang="en-US" dirty="0"/>
            </a:br>
            <a:endParaRPr lang="en-US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Entra ID a delegated identity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</a:t>
            </a:r>
            <a:r>
              <a:rPr lang="sk-SK" dirty="0"/>
              <a:t> </a:t>
            </a:r>
            <a:r>
              <a:rPr lang="sk-SK" dirty="0" err="1"/>
              <a:t>Authorizacia</a:t>
            </a:r>
            <a:r>
              <a:rPr lang="sk-SK" dirty="0"/>
              <a:t> </a:t>
            </a:r>
            <a:r>
              <a:rPr lang="sk-SK" dirty="0" err="1"/>
              <a:t>setup</a:t>
            </a:r>
            <a:br>
              <a:rPr lang="sk-SK" dirty="0"/>
            </a:br>
            <a:r>
              <a:rPr lang="en-US" dirty="0"/>
              <a:t>•</a:t>
            </a:r>
            <a:r>
              <a:rPr lang="sk-SK" dirty="0"/>
              <a:t> </a:t>
            </a:r>
            <a:r>
              <a:rPr lang="en-US" dirty="0"/>
              <a:t>network isolation </a:t>
            </a:r>
            <a:r>
              <a:rPr lang="en-US" dirty="0" err="1"/>
              <a:t>podľa</a:t>
            </a:r>
            <a:r>
              <a:rPr lang="en-US" dirty="0"/>
              <a:t> </a:t>
            </a:r>
            <a:r>
              <a:rPr lang="en-US" dirty="0" err="1"/>
              <a:t>citlivosti</a:t>
            </a:r>
            <a:endParaRPr lang="sk-SK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policy enforcement pred tools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DLP / PII / secrets redaction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tool allowlist a approval gates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</a:t>
            </a:r>
            <a:r>
              <a:rPr lang="sk-SK" dirty="0"/>
              <a:t> </a:t>
            </a:r>
            <a:r>
              <a:rPr lang="sk-SK" dirty="0" err="1"/>
              <a:t>verifikators</a:t>
            </a:r>
            <a:r>
              <a:rPr lang="sk-SK" dirty="0"/>
              <a:t> odpovedi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3611880" y="1325880"/>
            <a:ext cx="2743200" cy="4434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58184" y="1435607"/>
            <a:ext cx="2450592" cy="155683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Governance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business owner pre use case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data owner pre </a:t>
            </a:r>
            <a:r>
              <a:rPr dirty="0" err="1"/>
              <a:t>zdroj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AI/platform owner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risk/compliance review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change management pre </a:t>
            </a:r>
            <a:r>
              <a:rPr dirty="0" err="1"/>
              <a:t>modely</a:t>
            </a:r>
            <a:r>
              <a:rPr lang="sk-SK" dirty="0"/>
              <a:t>, </a:t>
            </a:r>
            <a:r>
              <a:rPr lang="sk-SK" dirty="0" err="1"/>
              <a:t>sources</a:t>
            </a:r>
            <a:r>
              <a:rPr dirty="0"/>
              <a:t> a </a:t>
            </a:r>
            <a:r>
              <a:rPr dirty="0" err="1"/>
              <a:t>prompty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6583680" y="1325880"/>
            <a:ext cx="4709160" cy="201168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29984" y="1389887"/>
            <a:ext cx="4416552" cy="1895391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rPr dirty="0" err="1"/>
              <a:t>Auditovať</a:t>
            </a:r>
            <a:r>
              <a:rPr dirty="0"/>
              <a:t> </a:t>
            </a:r>
            <a:r>
              <a:rPr dirty="0" err="1"/>
              <a:t>vždy</a:t>
            </a:r>
            <a:endParaRPr dirty="0"/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user/session/request id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model a prompt template version</a:t>
            </a:r>
            <a:endParaRPr lang="en-US" dirty="0"/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lang="en-US" dirty="0" err="1"/>
              <a:t>spotrebovane</a:t>
            </a:r>
            <a:r>
              <a:rPr lang="en-US" dirty="0"/>
              <a:t> </a:t>
            </a:r>
            <a:r>
              <a:rPr lang="en-US" dirty="0" err="1"/>
              <a:t>tokeny</a:t>
            </a:r>
            <a:r>
              <a:rPr lang="en-US" dirty="0"/>
              <a:t> input/output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session Q&amp;A </a:t>
            </a:r>
            <a:r>
              <a:rPr lang="en-US" dirty="0" err="1"/>
              <a:t>anonymizovane</a:t>
            </a:r>
            <a:endParaRPr dirty="0"/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tool calls a source systems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document ids/chunk ids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rPr dirty="0"/>
              <a:t>• authorization decision a scoring result</a:t>
            </a:r>
            <a:endParaRPr lang="en-US" dirty="0"/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583680" y="3749039"/>
            <a:ext cx="4709160" cy="201168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9984" y="3858768"/>
            <a:ext cx="4416552" cy="184708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t>Logovať opatrne / redigovane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raw prompt, raw chunks, raw answer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osobné údaje, tajomstvá, finančné údaje</a:t>
            </a:r>
          </a:p>
          <a:p>
            <a:pPr>
              <a:spcAft>
                <a:spcPts val="2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retencia, legal hold, SIEM integrácia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3227165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dirty="0" err="1"/>
              <a:t>I</a:t>
            </a: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6. Kvalita odpovedí, scoring a human-in-the-loop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108960" cy="434340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435607"/>
            <a:ext cx="2816352" cy="155683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Output verifier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kontrola</a:t>
            </a:r>
            <a:r>
              <a:rPr dirty="0"/>
              <a:t> </a:t>
            </a:r>
            <a:r>
              <a:rPr dirty="0" err="1"/>
              <a:t>tvrdení</a:t>
            </a:r>
            <a:r>
              <a:rPr dirty="0"/>
              <a:t> </a:t>
            </a:r>
            <a:r>
              <a:rPr dirty="0" err="1"/>
              <a:t>voči</a:t>
            </a:r>
            <a:r>
              <a:rPr dirty="0"/>
              <a:t> </a:t>
            </a:r>
            <a:r>
              <a:rPr dirty="0" err="1"/>
              <a:t>zdrojom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supported / partial / unsupported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citácie</a:t>
            </a:r>
            <a:r>
              <a:rPr dirty="0"/>
              <a:t> </a:t>
            </a:r>
            <a:r>
              <a:rPr dirty="0" err="1"/>
              <a:t>nestačia</a:t>
            </a:r>
            <a:r>
              <a:rPr dirty="0"/>
              <a:t> – </a:t>
            </a:r>
            <a:r>
              <a:rPr dirty="0" err="1"/>
              <a:t>zdroj</a:t>
            </a:r>
            <a:r>
              <a:rPr dirty="0"/>
              <a:t> </a:t>
            </a:r>
            <a:r>
              <a:rPr dirty="0" err="1"/>
              <a:t>musí</a:t>
            </a:r>
            <a:r>
              <a:rPr dirty="0"/>
              <a:t> </a:t>
            </a:r>
            <a:r>
              <a:rPr dirty="0" err="1"/>
              <a:t>tvrdenie</a:t>
            </a:r>
            <a:r>
              <a:rPr dirty="0"/>
              <a:t> </a:t>
            </a:r>
            <a:r>
              <a:rPr dirty="0" err="1"/>
              <a:t>podporovať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ak</a:t>
            </a:r>
            <a:r>
              <a:rPr dirty="0"/>
              <a:t> </a:t>
            </a:r>
            <a:r>
              <a:rPr dirty="0" err="1"/>
              <a:t>chýba</a:t>
            </a:r>
            <a:r>
              <a:rPr dirty="0"/>
              <a:t> </a:t>
            </a:r>
            <a:r>
              <a:rPr dirty="0" err="1"/>
              <a:t>zdroj</a:t>
            </a:r>
            <a:r>
              <a:rPr dirty="0"/>
              <a:t>, </a:t>
            </a:r>
            <a:r>
              <a:rPr dirty="0" err="1"/>
              <a:t>systém</a:t>
            </a:r>
            <a:r>
              <a:rPr dirty="0"/>
              <a:t> </a:t>
            </a:r>
            <a:r>
              <a:rPr dirty="0" err="1"/>
              <a:t>prizná</a:t>
            </a:r>
            <a:r>
              <a:rPr dirty="0"/>
              <a:t> l</a:t>
            </a:r>
            <a:r>
              <a:rPr lang="en-US" dirty="0"/>
              <a:t>imit</a:t>
            </a:r>
            <a:endParaRPr lang="sk-SK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lang="sk-SK" dirty="0"/>
              <a:t>p</a:t>
            </a:r>
            <a:r>
              <a:rPr lang="en-US" dirty="0" err="1"/>
              <a:t>ou</a:t>
            </a:r>
            <a:r>
              <a:rPr lang="sk-SK" dirty="0"/>
              <a:t>žiť aj pri cache odpovedi - CAG</a:t>
            </a:r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160520" y="1325880"/>
            <a:ext cx="3291840" cy="43434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06824" y="1435607"/>
            <a:ext cx="2999232" cy="221086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Scoring </a:t>
            </a:r>
            <a:r>
              <a:rPr dirty="0" err="1"/>
              <a:t>dimenzie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groundedness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source coverage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prompt injection risk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PII/data leakage risk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business criticality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answer completeness</a:t>
            </a:r>
            <a:endParaRPr lang="sk-SK"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</a:t>
            </a:r>
            <a:r>
              <a:rPr lang="sk-SK" dirty="0"/>
              <a:t>  feedback používateľa pre cache odpovede</a:t>
            </a:r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818120" y="1325880"/>
            <a:ext cx="3474720" cy="434340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435607"/>
            <a:ext cx="3182112" cy="41788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EA580C"/>
                </a:solidFill>
                <a:latin typeface="Arial"/>
              </a:defRPr>
            </a:pPr>
            <a:r>
              <a:t>Routing rozhodnutie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OK → odpoveď používateľovi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unsupported claim → úprava/odmietnutie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vysoké riziko → human approval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PII/secrets → redact/block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auth mismatch → hard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7. Porovnanie alternatív a odporúčanie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Prístup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Výhody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Nevýhody / riziká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325880"/>
            <a:ext cx="2423160" cy="41148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Vhodnosť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Cloud AI služby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vysoká kvalita, rýchly štart, škálovanie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dátová politika, vendor lock-in, cost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1965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nízko/stredne citlivé use cases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rPr dirty="0"/>
              <a:t>On-prem / </a:t>
            </a:r>
            <a:r>
              <a:rPr dirty="0" err="1"/>
              <a:t>lokálne</a:t>
            </a:r>
            <a:r>
              <a:rPr dirty="0"/>
              <a:t> </a:t>
            </a:r>
            <a:r>
              <a:rPr dirty="0" err="1"/>
              <a:t>modely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324612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kontrola dát, izolácia, vhodné pre citlivé dáta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nižšia kvalita, infra náklady, MLOps náročnosť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108960"/>
            <a:ext cx="242316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>
                <a:solidFill>
                  <a:srgbClr val="0F172A"/>
                </a:solidFill>
                <a:latin typeface="Arial"/>
              </a:defRPr>
            </a:pPr>
            <a:r>
              <a:t>citlivé a regulované dáta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Hybridný prístup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balans kvality, bezpečnosti a nákladov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vyššia architektonická komplexita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4251960"/>
            <a:ext cx="2423160" cy="960120"/>
          </a:xfrm>
          <a:prstGeom prst="round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50" b="1">
                <a:solidFill>
                  <a:srgbClr val="0F172A"/>
                </a:solidFill>
                <a:latin typeface="Arial"/>
              </a:defRPr>
            </a:pPr>
            <a:r>
              <a:t>odporúčané pre enterprise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623560"/>
            <a:ext cx="10287000" cy="5029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Odporúčanie: hybrid + model routing podľa citlivosti dát, požadovanej kvality a nákladov.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201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t>8. Roadmapa zavedenia – riadená exit kritériami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85800" y="1828800"/>
            <a:ext cx="1600200" cy="2148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2104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Discovery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schválené use cases, zdroje, riziká, vlastníci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13432" y="2880360"/>
            <a:ext cx="182880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2032" y="1828800"/>
            <a:ext cx="1600200" cy="214884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88336" y="1938528"/>
            <a:ext cx="1307592" cy="1135567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PoC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lang="sk-SK" dirty="0"/>
              <a:t>overenie </a:t>
            </a:r>
            <a:r>
              <a:rPr lang="sk-SK" dirty="0" err="1"/>
              <a:t>arch</a:t>
            </a:r>
            <a:r>
              <a:rPr lang="en-US" dirty="0"/>
              <a:t>it</a:t>
            </a:r>
            <a:r>
              <a:rPr lang="sk-SK" dirty="0" err="1"/>
              <a:t>ektúr</a:t>
            </a:r>
            <a:r>
              <a:rPr lang="en-US" dirty="0"/>
              <a:t>i</a:t>
            </a:r>
            <a:endParaRPr lang="sk-SK" dirty="0"/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dirty="0" err="1"/>
              <a:t>overený</a:t>
            </a:r>
            <a:r>
              <a:rPr dirty="0"/>
              <a:t> permission-aware RAG, </a:t>
            </a:r>
            <a:r>
              <a:rPr dirty="0" err="1"/>
              <a:t>citácie</a:t>
            </a:r>
            <a:r>
              <a:rPr dirty="0"/>
              <a:t>, </a:t>
            </a:r>
            <a:r>
              <a:rPr dirty="0" err="1"/>
              <a:t>základný</a:t>
            </a:r>
            <a:r>
              <a:rPr dirty="0"/>
              <a:t> audit</a:t>
            </a:r>
            <a:endParaRPr lang="sk-SK" dirty="0"/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</a:t>
            </a:r>
            <a:r>
              <a:rPr lang="sk-SK" dirty="0"/>
              <a:t> </a:t>
            </a:r>
            <a:r>
              <a:rPr lang="sk-SK" dirty="0" err="1"/>
              <a:t>auth</a:t>
            </a:r>
            <a:r>
              <a:rPr lang="sk-SK" dirty="0"/>
              <a:t>, </a:t>
            </a:r>
            <a:r>
              <a:rPr lang="sk-SK" dirty="0" err="1"/>
              <a:t>authZ</a:t>
            </a:r>
            <a:endParaRPr lang="sk-SK" dirty="0"/>
          </a:p>
        </p:txBody>
      </p:sp>
      <p:cxnSp>
        <p:nvCxnSpPr>
          <p:cNvPr id="9" name="Connector 8"/>
          <p:cNvCxnSpPr/>
          <p:nvPr/>
        </p:nvCxnSpPr>
        <p:spPr>
          <a:xfrm>
            <a:off x="4169663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98264" y="1828800"/>
            <a:ext cx="1600200" cy="214884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938528"/>
            <a:ext cx="1307592" cy="1423595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MVP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použiteľný</a:t>
            </a:r>
            <a:r>
              <a:rPr dirty="0"/>
              <a:t> </a:t>
            </a:r>
            <a:r>
              <a:rPr dirty="0" err="1"/>
              <a:t>asistent</a:t>
            </a:r>
            <a:r>
              <a:rPr dirty="0"/>
              <a:t> pre </a:t>
            </a:r>
            <a:r>
              <a:rPr dirty="0" err="1"/>
              <a:t>obmedzenú</a:t>
            </a:r>
            <a:r>
              <a:rPr dirty="0"/>
              <a:t> </a:t>
            </a:r>
            <a:r>
              <a:rPr dirty="0" err="1"/>
              <a:t>skupinu</a:t>
            </a:r>
            <a:endParaRPr lang="en-US" dirty="0"/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• </a:t>
            </a:r>
            <a:r>
              <a:rPr lang="en-US" dirty="0" err="1"/>
              <a:t>definovanie</a:t>
            </a:r>
            <a:r>
              <a:rPr lang="en-US" dirty="0"/>
              <a:t> </a:t>
            </a:r>
            <a:r>
              <a:rPr lang="en-US" dirty="0" err="1"/>
              <a:t>minimalnych</a:t>
            </a:r>
            <a:r>
              <a:rPr lang="en-US" dirty="0"/>
              <a:t> </a:t>
            </a:r>
            <a:r>
              <a:rPr lang="en-US" dirty="0" err="1"/>
              <a:t>acceptacnych</a:t>
            </a:r>
            <a:r>
              <a:rPr lang="en-US" dirty="0"/>
              <a:t> </a:t>
            </a:r>
            <a:r>
              <a:rPr lang="en-US" dirty="0" err="1"/>
              <a:t>kriteri</a:t>
            </a:r>
            <a:r>
              <a:rPr lang="en-US" dirty="0"/>
              <a:t> pre </a:t>
            </a:r>
            <a:r>
              <a:rPr lang="en-US" dirty="0" err="1"/>
              <a:t>produkciu</a:t>
            </a:r>
            <a:r>
              <a:rPr lang="sk-SK" dirty="0"/>
              <a:t>, SLA</a:t>
            </a:r>
            <a:endParaRPr dirty="0"/>
          </a:p>
        </p:txBody>
      </p:sp>
      <p:cxnSp>
        <p:nvCxnSpPr>
          <p:cNvPr id="12" name="Connector 11"/>
          <p:cNvCxnSpPr/>
          <p:nvPr/>
        </p:nvCxnSpPr>
        <p:spPr>
          <a:xfrm>
            <a:off x="6025896" y="2880360"/>
            <a:ext cx="182879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54496" y="1828800"/>
            <a:ext cx="1600200" cy="214884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1307592" cy="1554785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/>
              <a:t>Pilot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metriky</a:t>
            </a:r>
            <a:r>
              <a:rPr dirty="0"/>
              <a:t> </a:t>
            </a:r>
            <a:r>
              <a:rPr dirty="0" err="1"/>
              <a:t>kvality</a:t>
            </a:r>
            <a:r>
              <a:rPr dirty="0"/>
              <a:t>, </a:t>
            </a:r>
            <a:r>
              <a:rPr dirty="0" err="1"/>
              <a:t>bezpečnosti</a:t>
            </a:r>
            <a:r>
              <a:rPr dirty="0"/>
              <a:t>, </a:t>
            </a:r>
            <a:r>
              <a:rPr dirty="0" err="1"/>
              <a:t>adopcie</a:t>
            </a:r>
            <a:r>
              <a:rPr lang="en-US" dirty="0"/>
              <a:t> </a:t>
            </a:r>
            <a:r>
              <a:rPr dirty="0"/>
              <a:t>a </a:t>
            </a:r>
            <a:r>
              <a:rPr dirty="0" err="1"/>
              <a:t>costov</a:t>
            </a:r>
            <a:br>
              <a:rPr lang="en-US" dirty="0"/>
            </a:br>
            <a:r>
              <a:rPr lang="en-US" dirty="0"/>
              <a:t>•  </a:t>
            </a:r>
            <a:r>
              <a:rPr lang="en-US" dirty="0" err="1"/>
              <a:t>otestovanie</a:t>
            </a:r>
            <a:r>
              <a:rPr lang="en-US" dirty="0"/>
              <a:t> </a:t>
            </a:r>
            <a:r>
              <a:rPr lang="sk-SK" dirty="0" err="1"/>
              <a:t>kriterii</a:t>
            </a:r>
            <a:r>
              <a:rPr lang="sk-SK" dirty="0"/>
              <a:t> -</a:t>
            </a:r>
            <a:r>
              <a:rPr lang="en-US" dirty="0"/>
              <a:t> scalability, disaster recovery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overenie</a:t>
            </a:r>
            <a:r>
              <a:rPr lang="en-US" dirty="0"/>
              <a:t> </a:t>
            </a:r>
            <a:r>
              <a:rPr lang="en-US" dirty="0" err="1"/>
              <a:t>rie</a:t>
            </a:r>
            <a:r>
              <a:rPr lang="sk-SK" dirty="0" err="1"/>
              <a:t>šenia</a:t>
            </a:r>
            <a:r>
              <a:rPr lang="sk-SK" dirty="0"/>
              <a:t> incidentov</a:t>
            </a:r>
            <a:endParaRPr dirty="0"/>
          </a:p>
        </p:txBody>
      </p:sp>
      <p:cxnSp>
        <p:nvCxnSpPr>
          <p:cNvPr id="15" name="Connector 14"/>
          <p:cNvCxnSpPr/>
          <p:nvPr/>
        </p:nvCxnSpPr>
        <p:spPr>
          <a:xfrm>
            <a:off x="7882127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7" y="1828800"/>
            <a:ext cx="1600200" cy="2148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938528"/>
            <a:ext cx="1307592" cy="19842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Produkcia</a:t>
            </a:r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t>• go/no-go report, runbook, monitoring, support 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38359" y="2880360"/>
            <a:ext cx="182881" cy="0"/>
          </a:xfrm>
          <a:prstGeom prst="line">
            <a:avLst/>
          </a:prstGeom>
          <a:ln w="1397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966959" y="1828800"/>
            <a:ext cx="1600200" cy="2148840"/>
          </a:xfrm>
          <a:prstGeom prst="roundRect">
            <a:avLst/>
          </a:prstGeom>
          <a:solidFill>
            <a:srgbClr val="FFF7ED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13263" y="1938528"/>
            <a:ext cx="1307592" cy="77059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rPr dirty="0" err="1"/>
              <a:t>Rozvoj</a:t>
            </a:r>
            <a:endParaRPr dirty="0"/>
          </a:p>
          <a:p>
            <a:pPr>
              <a:spcAft>
                <a:spcPts val="200"/>
              </a:spcAft>
              <a:defRPr sz="1019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nové</a:t>
            </a:r>
            <a:r>
              <a:rPr dirty="0"/>
              <a:t> </a:t>
            </a:r>
            <a:r>
              <a:rPr dirty="0" err="1"/>
              <a:t>zdroje</a:t>
            </a:r>
            <a:r>
              <a:rPr lang="en-US" dirty="0"/>
              <a:t>/models</a:t>
            </a:r>
            <a:r>
              <a:rPr dirty="0"/>
              <a:t> a use cases </a:t>
            </a:r>
            <a:r>
              <a:rPr dirty="0" err="1"/>
              <a:t>cez</a:t>
            </a:r>
            <a:r>
              <a:rPr dirty="0"/>
              <a:t> governance </a:t>
            </a:r>
            <a:r>
              <a:rPr dirty="0" err="1"/>
              <a:t>proces</a:t>
            </a:r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868680" y="4800600"/>
            <a:ext cx="10378440" cy="822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4983" y="4910328"/>
            <a:ext cx="10085832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43053"/>
                </a:solidFill>
                <a:latin typeface="Arial"/>
              </a:defRPr>
            </a:pPr>
            <a:r>
              <a:t>Poznámka k harmonogramu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t>• Trvanie závisí od veľkosti tímu, počtu dátových zdrojov a integračnej zložitosti. Preto sú dôležitejšie exit kritériá ako pevné týždne.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409919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3053"/>
                </a:solidFill>
                <a:latin typeface="Arial"/>
              </a:defRPr>
            </a:pPr>
            <a:r>
              <a:rPr dirty="0"/>
              <a:t>9. </a:t>
            </a:r>
            <a:r>
              <a:rPr lang="en-US" dirty="0" err="1"/>
              <a:t>Produkcia</a:t>
            </a:r>
            <a:r>
              <a:rPr lang="en-US" dirty="0"/>
              <a:t> – Go/No Go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" y="1060704"/>
            <a:ext cx="11155680" cy="1828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57800" cy="3794760"/>
          </a:xfrm>
          <a:prstGeom prst="roundRect">
            <a:avLst/>
          </a:prstGeom>
          <a:solidFill>
            <a:srgbClr val="FEE2E2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7824" y="1527048"/>
            <a:ext cx="4965192" cy="13644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DC2626"/>
                </a:solidFill>
                <a:latin typeface="Arial"/>
              </a:defRPr>
            </a:pPr>
            <a:r>
              <a:rPr lang="en-US" dirty="0" err="1"/>
              <a:t>Nenasadi</a:t>
            </a:r>
            <a:r>
              <a:rPr lang="sk-SK" dirty="0"/>
              <a:t>ť v prípade ak metrika indikuje</a:t>
            </a:r>
            <a:endParaRPr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agentické</a:t>
            </a:r>
            <a:r>
              <a:rPr lang="en-US" dirty="0"/>
              <a:t> </a:t>
            </a:r>
            <a:r>
              <a:rPr lang="en-US" dirty="0" err="1"/>
              <a:t>volanie</a:t>
            </a:r>
            <a:r>
              <a:rPr lang="en-US" dirty="0"/>
              <a:t> </a:t>
            </a:r>
            <a:r>
              <a:rPr lang="en-US" dirty="0" err="1"/>
              <a:t>interných</a:t>
            </a:r>
            <a:r>
              <a:rPr lang="en-US" dirty="0"/>
              <a:t> </a:t>
            </a:r>
            <a:r>
              <a:rPr lang="en-US" dirty="0" err="1"/>
              <a:t>nástrojov</a:t>
            </a:r>
            <a:r>
              <a:rPr lang="en-US" dirty="0"/>
              <a:t> bez </a:t>
            </a:r>
            <a:r>
              <a:rPr lang="en-US" dirty="0" err="1"/>
              <a:t>vynútenej</a:t>
            </a:r>
            <a:r>
              <a:rPr lang="en-US" dirty="0"/>
              <a:t> </a:t>
            </a:r>
            <a:r>
              <a:rPr lang="en-US" dirty="0" err="1"/>
              <a:t>autorizácie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RAG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citlivými</a:t>
            </a:r>
            <a:r>
              <a:rPr lang="en-US" dirty="0"/>
              <a:t> </a:t>
            </a:r>
            <a:r>
              <a:rPr lang="en-US" dirty="0" err="1"/>
              <a:t>dokumentmi</a:t>
            </a:r>
            <a:r>
              <a:rPr lang="en-US" dirty="0"/>
              <a:t> bez permission-aware </a:t>
            </a:r>
            <a:r>
              <a:rPr lang="en-US" dirty="0" err="1"/>
              <a:t>retrievalu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odpovede</a:t>
            </a:r>
            <a:r>
              <a:rPr lang="en-US" dirty="0"/>
              <a:t> bez </a:t>
            </a:r>
            <a:r>
              <a:rPr lang="sk-SK" dirty="0" err="1"/>
              <a:t>overeneho</a:t>
            </a:r>
            <a:r>
              <a:rPr lang="sk-SK" dirty="0"/>
              <a:t> zdroja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 err="1"/>
              <a:t>spracovanie</a:t>
            </a:r>
            <a:r>
              <a:rPr lang="en-US" dirty="0"/>
              <a:t> PII bez DLP/</a:t>
            </a:r>
            <a:r>
              <a:rPr lang="en-US" dirty="0" err="1"/>
              <a:t>redakcie</a:t>
            </a:r>
            <a:r>
              <a:rPr lang="en-US" dirty="0"/>
              <a:t> a </a:t>
            </a:r>
            <a:r>
              <a:rPr lang="en-US" dirty="0" err="1"/>
              <a:t>retenčných</a:t>
            </a:r>
            <a:r>
              <a:rPr lang="en-US" dirty="0"/>
              <a:t> </a:t>
            </a:r>
            <a:r>
              <a:rPr lang="en-US" dirty="0" err="1"/>
              <a:t>pravidiel</a:t>
            </a:r>
            <a:endParaRPr lang="en-US" dirty="0"/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  <a:defRPr sz="1250">
                <a:solidFill>
                  <a:srgbClr val="0F172A"/>
                </a:solidFill>
                <a:latin typeface="Arial"/>
              </a:defRPr>
            </a:pPr>
            <a:r>
              <a:rPr lang="en-US" dirty="0"/>
              <a:t>model routing bez </a:t>
            </a:r>
            <a:r>
              <a:rPr lang="en-US" dirty="0" err="1"/>
              <a:t>dátovej</a:t>
            </a:r>
            <a:r>
              <a:rPr lang="en-US" dirty="0"/>
              <a:t> </a:t>
            </a:r>
            <a:r>
              <a:rPr lang="en-US" dirty="0" err="1"/>
              <a:t>klasifikácie</a:t>
            </a:r>
            <a:r>
              <a:rPr lang="en-US" dirty="0"/>
              <a:t> a </a:t>
            </a:r>
            <a:r>
              <a:rPr lang="en-US" dirty="0" err="1"/>
              <a:t>schválenej</a:t>
            </a:r>
            <a:r>
              <a:rPr lang="en-US" dirty="0"/>
              <a:t> </a:t>
            </a:r>
            <a:r>
              <a:rPr lang="en-US" dirty="0" err="1"/>
              <a:t>politiky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257800" cy="3794760"/>
          </a:xfrm>
          <a:prstGeom prst="roundRect">
            <a:avLst/>
          </a:prstGeom>
          <a:solidFill>
            <a:srgbClr val="DCFCE7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9944" y="1527048"/>
            <a:ext cx="4965192" cy="15824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defRPr sz="1350" b="1">
                <a:solidFill>
                  <a:srgbClr val="16A34A"/>
                </a:solidFill>
                <a:latin typeface="Arial"/>
              </a:defRPr>
            </a:pPr>
            <a:r>
              <a:rPr dirty="0"/>
              <a:t>Pred </a:t>
            </a:r>
            <a:r>
              <a:rPr dirty="0" err="1"/>
              <a:t>produkciou</a:t>
            </a:r>
            <a:r>
              <a:rPr dirty="0"/>
              <a:t> </a:t>
            </a:r>
            <a:r>
              <a:rPr dirty="0" err="1"/>
              <a:t>overiť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testy </a:t>
            </a:r>
            <a:r>
              <a:rPr dirty="0" err="1"/>
              <a:t>oprávnení</a:t>
            </a:r>
            <a:r>
              <a:rPr lang="sk-SK" dirty="0"/>
              <a:t> k zdrojom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testy</a:t>
            </a:r>
            <a:r>
              <a:rPr lang="en-US" dirty="0"/>
              <a:t> prompt poisoning.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lang="sk-SK" dirty="0" err="1"/>
              <a:t>scoring</a:t>
            </a:r>
            <a:r>
              <a:rPr lang="sk-SK" dirty="0"/>
              <a:t>, </a:t>
            </a:r>
            <a:r>
              <a:rPr dirty="0" err="1"/>
              <a:t>groundedness</a:t>
            </a:r>
            <a:r>
              <a:rPr dirty="0"/>
              <a:t> </a:t>
            </a:r>
            <a:r>
              <a:rPr lang="sk-SK" dirty="0"/>
              <a:t>cez</a:t>
            </a:r>
            <a:r>
              <a:rPr dirty="0"/>
              <a:t> eval</a:t>
            </a:r>
            <a:r>
              <a:rPr lang="sk-SK" dirty="0" err="1"/>
              <a:t>uačný</a:t>
            </a:r>
            <a:r>
              <a:rPr dirty="0"/>
              <a:t> dataset</a:t>
            </a:r>
            <a:r>
              <a:rPr lang="sk-SK" dirty="0"/>
              <a:t> </a:t>
            </a:r>
            <a:endParaRPr dirty="0"/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DLP/PII leakage testy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auditovateľnosť</a:t>
            </a:r>
            <a:r>
              <a:rPr dirty="0"/>
              <a:t> end-to-end</a:t>
            </a:r>
          </a:p>
          <a:p>
            <a:pPr>
              <a:spcAft>
                <a:spcPts val="200"/>
              </a:spcAft>
              <a:defRPr sz="1250">
                <a:solidFill>
                  <a:srgbClr val="0F172A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pilotné</a:t>
            </a:r>
            <a:r>
              <a:rPr dirty="0"/>
              <a:t> </a:t>
            </a:r>
            <a:r>
              <a:rPr dirty="0" err="1"/>
              <a:t>metriky</a:t>
            </a:r>
            <a:r>
              <a:rPr dirty="0"/>
              <a:t> a go/no-go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5623560"/>
            <a:ext cx="10287000" cy="502920"/>
          </a:xfrm>
          <a:prstGeom prst="roundRect">
            <a:avLst/>
          </a:prstGeom>
          <a:solidFill>
            <a:srgbClr val="143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rPr lang="sk-SK" sz="1300" b="1" dirty="0"/>
              <a:t>Mojim c</a:t>
            </a:r>
            <a:r>
              <a:rPr lang="en-US" sz="1300" b="1" dirty="0" err="1"/>
              <a:t>ieľom</a:t>
            </a:r>
            <a:r>
              <a:rPr lang="en-US" sz="1300" b="1" dirty="0"/>
              <a:t> </a:t>
            </a:r>
            <a:r>
              <a:rPr lang="sk-SK" sz="1300" b="1" dirty="0"/>
              <a:t>je  navrhnúť  </a:t>
            </a:r>
            <a:r>
              <a:rPr lang="en-US" sz="1300" b="1" dirty="0" err="1"/>
              <a:t>bezpečný</a:t>
            </a:r>
            <a:r>
              <a:rPr lang="en-US" sz="1300" b="1" dirty="0"/>
              <a:t>, </a:t>
            </a:r>
            <a:r>
              <a:rPr lang="en-US" sz="1300" b="1" dirty="0" err="1"/>
              <a:t>auditovateľný</a:t>
            </a:r>
            <a:r>
              <a:rPr lang="en-US" sz="1300" b="1" dirty="0"/>
              <a:t> a </a:t>
            </a:r>
            <a:r>
              <a:rPr lang="en-US" sz="1300" b="1" dirty="0" err="1"/>
              <a:t>prakticky</a:t>
            </a:r>
            <a:r>
              <a:rPr lang="en-US" sz="1300" b="1" dirty="0"/>
              <a:t> </a:t>
            </a:r>
            <a:r>
              <a:rPr lang="en-US" sz="1300" b="1" dirty="0" err="1"/>
              <a:t>použiteľný</a:t>
            </a:r>
            <a:r>
              <a:rPr lang="en-US" sz="1300" b="1" dirty="0"/>
              <a:t> AI </a:t>
            </a:r>
            <a:r>
              <a:rPr lang="en-US" sz="1300" b="1" dirty="0" err="1"/>
              <a:t>systém</a:t>
            </a:r>
            <a:r>
              <a:rPr lang="en-US" sz="1300" b="1" dirty="0"/>
              <a:t>, </a:t>
            </a:r>
            <a:r>
              <a:rPr lang="en-US" sz="1300" b="1" dirty="0" err="1"/>
              <a:t>ktorému</a:t>
            </a:r>
            <a:r>
              <a:rPr lang="en-US" sz="1300" b="1" dirty="0"/>
              <a:t> </a:t>
            </a:r>
            <a:r>
              <a:rPr lang="en-US" sz="1300" b="1" dirty="0" err="1"/>
              <a:t>organizácia</a:t>
            </a:r>
            <a:r>
              <a:rPr lang="en-US" sz="1300" b="1" dirty="0"/>
              <a:t> vie </a:t>
            </a:r>
            <a:r>
              <a:rPr lang="en-US" sz="1300" b="1" dirty="0" err="1"/>
              <a:t>dôverovať</a:t>
            </a:r>
            <a:r>
              <a:rPr lang="en-US" sz="1300" b="1" dirty="0"/>
              <a:t>.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196709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Arial"/>
              </a:defRPr>
            </a:pPr>
            <a:r>
              <a:rPr lang="en-US" dirty="0" err="1"/>
              <a:t>Interný</a:t>
            </a:r>
            <a:r>
              <a:rPr lang="en-US" dirty="0"/>
              <a:t> AI </a:t>
            </a:r>
            <a:r>
              <a:rPr lang="en-US" dirty="0" err="1"/>
              <a:t>asistent</a:t>
            </a:r>
            <a:r>
              <a:rPr lang="en-US" dirty="0"/>
              <a:t> – . </a:t>
            </a:r>
            <a:r>
              <a:rPr lang="en-US" dirty="0" err="1"/>
              <a:t>obhajoba</a:t>
            </a:r>
            <a:r>
              <a:rPr lang="en-US" dirty="0"/>
              <a:t> </a:t>
            </a:r>
            <a:r>
              <a:rPr lang="en-US" dirty="0" err="1"/>
              <a:t>riešenia</a:t>
            </a:r>
            <a:r>
              <a:rPr lang="en-US" dirty="0"/>
              <a:t>, Marek Matonok 2026</a:t>
            </a:r>
          </a:p>
          <a:p>
            <a:pPr algn="l">
              <a:defRPr sz="850">
                <a:solidFill>
                  <a:srgbClr val="475569"/>
                </a:solidFill>
                <a:latin typeface="Arial"/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</TotalTime>
  <Words>1233</Words>
  <Application>Microsoft Office PowerPoint</Application>
  <PresentationFormat>Widescreen</PresentationFormat>
  <Paragraphs>224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mmatonok-elkjop.no</dc:creator>
  <cp:keywords/>
  <dc:description>generated using python-pptx</dc:description>
  <cp:lastModifiedBy>Marek Matonok</cp:lastModifiedBy>
  <cp:revision>33</cp:revision>
  <dcterms:created xsi:type="dcterms:W3CDTF">2013-01-27T09:14:16Z</dcterms:created>
  <dcterms:modified xsi:type="dcterms:W3CDTF">2026-05-25T14:45:03Z</dcterms:modified>
  <cp:category/>
</cp:coreProperties>
</file>