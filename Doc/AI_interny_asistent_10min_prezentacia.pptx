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100" d="100"/>
          <a:sy n="100" d="100"/>
        </p:scale>
        <p:origin x="-258" y="-12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43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Arial"/>
              </a:defRPr>
            </a:pPr>
            <a:r>
              <a:t>Návrh architektúry interného AI asistenta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3232" y="1920240"/>
            <a:ext cx="3474720" cy="1828800"/>
          </a:xfrm>
          <a:prstGeom prst="roundRect">
            <a:avLst/>
          </a:prstGeom>
          <a:solidFill>
            <a:srgbClr val="DBEAFE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59536" y="2029968"/>
            <a:ext cx="3182112" cy="166420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defRPr sz="1350" b="1">
                <a:solidFill>
                  <a:srgbClr val="143053"/>
                </a:solidFill>
                <a:latin typeface="Arial"/>
              </a:defRPr>
            </a:pPr>
            <a:r>
              <a:t>Cieľ riešenia</a:t>
            </a:r>
          </a:p>
          <a:p>
            <a:pPr>
              <a:spcAft>
                <a:spcPts val="2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zrýchliť prácu s internými informáciami</a:t>
            </a:r>
          </a:p>
          <a:p>
            <a:pPr>
              <a:spcAft>
                <a:spcPts val="2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podporiť analýzu požiadaviek</a:t>
            </a:r>
          </a:p>
          <a:p>
            <a:pPr>
              <a:spcAft>
                <a:spcPts val="2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poskytovať overiteľné odporúčania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70832" y="1920240"/>
            <a:ext cx="3474720" cy="1828800"/>
          </a:xfrm>
          <a:prstGeom prst="roundRect">
            <a:avLst/>
          </a:prstGeom>
          <a:solidFill>
            <a:srgbClr val="DCFCE7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17136" y="2029968"/>
            <a:ext cx="3182112" cy="166420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defRPr sz="1350" b="1">
                <a:solidFill>
                  <a:srgbClr val="16A34A"/>
                </a:solidFill>
                <a:latin typeface="Arial"/>
              </a:defRPr>
            </a:pPr>
            <a:r>
              <a:t>Základný princíp</a:t>
            </a:r>
          </a:p>
          <a:p>
            <a:pPr>
              <a:spcAft>
                <a:spcPts val="2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AI nerozhoduje za používateľa</a:t>
            </a:r>
          </a:p>
          <a:p>
            <a:pPr>
              <a:spcAft>
                <a:spcPts val="2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odpovede musia byť overiteľné</a:t>
            </a:r>
          </a:p>
          <a:p>
            <a:pPr>
              <a:spcAft>
                <a:spcPts val="2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človek ostáva vlastníkom rozhodnutia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28431" y="1920240"/>
            <a:ext cx="3474720" cy="1828800"/>
          </a:xfrm>
          <a:prstGeom prst="roundRect">
            <a:avLst/>
          </a:prstGeom>
          <a:solidFill>
            <a:srgbClr val="FFEDD5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174736" y="2029968"/>
            <a:ext cx="3182112" cy="166420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defRPr sz="1350" b="1">
                <a:solidFill>
                  <a:srgbClr val="EA580C"/>
                </a:solidFill>
                <a:latin typeface="Arial"/>
              </a:defRPr>
            </a:pPr>
            <a:r>
              <a:t>Odporúčanie</a:t>
            </a:r>
          </a:p>
          <a:p>
            <a:pPr>
              <a:spcAft>
                <a:spcPts val="2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hybridný AI prístup</a:t>
            </a:r>
          </a:p>
          <a:p>
            <a:pPr>
              <a:spcAft>
                <a:spcPts val="2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permission-aware RAG</a:t>
            </a:r>
          </a:p>
          <a:p>
            <a:pPr>
              <a:spcAft>
                <a:spcPts val="2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audit, scoring, human-in-the-loop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3232" y="4343400"/>
            <a:ext cx="10835640" cy="603504"/>
          </a:xfrm>
          <a:prstGeom prst="roundRect">
            <a:avLst/>
          </a:prstGeom>
          <a:solidFill>
            <a:srgbClr val="143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FFFFFF"/>
                </a:solidFill>
                <a:latin typeface="Arial"/>
              </a:defRPr>
            </a:pPr>
            <a:r>
              <a:t>Cieľ nie je „najinteligentnejší chatbot“, ale bezpečný, auditovateľný a použiteľný AI asistent.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5166360"/>
            <a:ext cx="1088136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350" b="0">
                <a:solidFill>
                  <a:srgbClr val="475569"/>
                </a:solidFill>
                <a:latin typeface="Arial"/>
              </a:defRPr>
            </a:pPr>
            <a:r>
              <a:t>Použitie AI pri príprave: ako sparring partner na štruktúru, alternatívy, riziká a kontrolu konzistencie. Finálne rozhodnutia a zodpovednosť sú moje.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73952"/>
            <a:ext cx="3196709" cy="22313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50">
                <a:solidFill>
                  <a:srgbClr val="475569"/>
                </a:solidFill>
                <a:latin typeface="Arial"/>
              </a:defRPr>
            </a:pPr>
            <a:r>
              <a:rPr dirty="0" err="1"/>
              <a:t>Interný</a:t>
            </a:r>
            <a:r>
              <a:rPr dirty="0"/>
              <a:t> AI </a:t>
            </a:r>
            <a:r>
              <a:rPr dirty="0" err="1"/>
              <a:t>asistent</a:t>
            </a:r>
            <a:r>
              <a:rPr dirty="0"/>
              <a:t> – . </a:t>
            </a:r>
            <a:r>
              <a:rPr dirty="0" err="1"/>
              <a:t>obhajoba</a:t>
            </a:r>
            <a:r>
              <a:rPr dirty="0"/>
              <a:t> </a:t>
            </a:r>
            <a:r>
              <a:rPr dirty="0" err="1"/>
              <a:t>riešenia</a:t>
            </a:r>
            <a:r>
              <a:rPr lang="en-US" dirty="0"/>
              <a:t>, Marek Matonok 2026</a:t>
            </a:r>
            <a:endParaRPr dirty="0"/>
          </a:p>
        </p:txBody>
      </p:sp>
      <p:sp>
        <p:nvSpPr>
          <p:cNvPr id="14" name="TextBox 13"/>
          <p:cNvSpPr txBox="1"/>
          <p:nvPr/>
        </p:nvSpPr>
        <p:spPr>
          <a:xfrm>
            <a:off x="11064240" y="6473952"/>
            <a:ext cx="594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475569"/>
                </a:solidFill>
                <a:latin typeface="Arial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201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43053"/>
                </a:solidFill>
                <a:latin typeface="Arial"/>
              </a:defRPr>
            </a:pPr>
            <a:r>
              <a:t>1. Kontext, use cases a hranice riešenia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60704"/>
            <a:ext cx="11155680" cy="18288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40080" y="1417320"/>
            <a:ext cx="3520440" cy="4343400"/>
          </a:xfrm>
          <a:prstGeom prst="roundRect">
            <a:avLst/>
          </a:prstGeom>
          <a:solidFill>
            <a:srgbClr val="F8FAFC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86384" y="1527048"/>
            <a:ext cx="3227832" cy="417880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defRPr sz="1350" b="1">
                <a:solidFill>
                  <a:srgbClr val="143053"/>
                </a:solidFill>
                <a:latin typeface="Arial"/>
              </a:defRPr>
            </a:pPr>
            <a:r>
              <a:t>Hlavné use cases</a:t>
            </a:r>
          </a:p>
          <a:p>
            <a:pPr>
              <a:spcAft>
                <a:spcPts val="2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vyhľadávanie smerníc, metodík a procesov</a:t>
            </a:r>
          </a:p>
          <a:p>
            <a:pPr>
              <a:spcAft>
                <a:spcPts val="2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sumarizácia interných informácií</a:t>
            </a:r>
          </a:p>
          <a:p>
            <a:pPr>
              <a:spcAft>
                <a:spcPts val="2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návrhy odpovedí a podkladov</a:t>
            </a:r>
          </a:p>
          <a:p>
            <a:pPr>
              <a:spcAft>
                <a:spcPts val="2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analýza biznis požiadaviek</a:t>
            </a:r>
          </a:p>
          <a:p>
            <a:pPr>
              <a:spcAft>
                <a:spcPts val="2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user stories a akceptačné kritériá</a:t>
            </a:r>
          </a:p>
          <a:p>
            <a:pPr>
              <a:spcAft>
                <a:spcPts val="2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dopady, závislosti a riziká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1417320"/>
            <a:ext cx="3520440" cy="4343400"/>
          </a:xfrm>
          <a:prstGeom prst="roundRect">
            <a:avLst/>
          </a:prstGeom>
          <a:solidFill>
            <a:srgbClr val="DBEAFE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489704" y="1527048"/>
            <a:ext cx="3227832" cy="417880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defRPr sz="1350" b="1">
                <a:solidFill>
                  <a:srgbClr val="143053"/>
                </a:solidFill>
                <a:latin typeface="Arial"/>
              </a:defRPr>
            </a:pPr>
            <a:r>
              <a:t>Cieľoví používatelia</a:t>
            </a:r>
          </a:p>
          <a:p>
            <a:pPr>
              <a:spcAft>
                <a:spcPts val="2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biznis analytici</a:t>
            </a:r>
          </a:p>
          <a:p>
            <a:pPr>
              <a:spcAft>
                <a:spcPts val="2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produktoví vlastníci</a:t>
            </a:r>
          </a:p>
          <a:p>
            <a:pPr>
              <a:spcAft>
                <a:spcPts val="2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architekti a vývojové tímy</a:t>
            </a:r>
          </a:p>
          <a:p>
            <a:pPr>
              <a:spcAft>
                <a:spcPts val="2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prevádzka / infraštruktúra</a:t>
            </a:r>
          </a:p>
          <a:p>
            <a:pPr>
              <a:spcAft>
                <a:spcPts val="2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manažéri a doménoví vlastníci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417320"/>
            <a:ext cx="3520440" cy="4343400"/>
          </a:xfrm>
          <a:prstGeom prst="roundRect">
            <a:avLst/>
          </a:prstGeom>
          <a:solidFill>
            <a:srgbClr val="FEE2E2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193024" y="1527048"/>
            <a:ext cx="3227832" cy="417880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defRPr sz="1350" b="1">
                <a:solidFill>
                  <a:srgbClr val="DC2626"/>
                </a:solidFill>
                <a:latin typeface="Arial"/>
              </a:defRPr>
            </a:pPr>
            <a:r>
              <a:t>Čo riešenie nesmie robiť</a:t>
            </a:r>
          </a:p>
          <a:p>
            <a:pPr>
              <a:spcAft>
                <a:spcPts val="2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automaticky rozhodovať za používateľa</a:t>
            </a:r>
          </a:p>
          <a:p>
            <a:pPr>
              <a:spcAft>
                <a:spcPts val="2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obchádzať prístupové práva</a:t>
            </a:r>
          </a:p>
          <a:p>
            <a:pPr>
              <a:spcAft>
                <a:spcPts val="2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meniť produkčné dáta bez schválenia</a:t>
            </a:r>
          </a:p>
          <a:p>
            <a:pPr>
              <a:spcAft>
                <a:spcPts val="2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vydávať nepodložené tvrdenia za fakty</a:t>
            </a:r>
          </a:p>
          <a:p>
            <a:pPr>
              <a:spcAft>
                <a:spcPts val="2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spracovať citlivé dáta mimo schválenej politiky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1940" y="6473952"/>
            <a:ext cx="10515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50">
                <a:solidFill>
                  <a:srgbClr val="475569"/>
                </a:solidFill>
                <a:latin typeface="Arial"/>
              </a:defRPr>
            </a:pPr>
            <a:r>
              <a:rPr dirty="0" err="1"/>
              <a:t>Interný</a:t>
            </a:r>
            <a:r>
              <a:rPr dirty="0"/>
              <a:t> AI </a:t>
            </a:r>
            <a:r>
              <a:rPr dirty="0" err="1"/>
              <a:t>asistent</a:t>
            </a:r>
            <a:r>
              <a:rPr dirty="0"/>
              <a:t> – 10 min. </a:t>
            </a:r>
            <a:r>
              <a:rPr dirty="0" err="1"/>
              <a:t>obhajoba</a:t>
            </a:r>
            <a:r>
              <a:rPr dirty="0"/>
              <a:t> </a:t>
            </a:r>
            <a:r>
              <a:rPr dirty="0" err="1"/>
              <a:t>riešenia</a:t>
            </a:r>
            <a:endParaRPr dirty="0"/>
          </a:p>
        </p:txBody>
      </p:sp>
      <p:sp>
        <p:nvSpPr>
          <p:cNvPr id="11" name="TextBox 10"/>
          <p:cNvSpPr txBox="1"/>
          <p:nvPr/>
        </p:nvSpPr>
        <p:spPr>
          <a:xfrm>
            <a:off x="11064240" y="6473952"/>
            <a:ext cx="594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475569"/>
                </a:solidFill>
                <a:latin typeface="Arial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201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43053"/>
                </a:solidFill>
                <a:latin typeface="Arial"/>
              </a:defRPr>
            </a:pPr>
            <a:r>
              <a:t>2. High-level architektúra riešenia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68096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>
                <a:solidFill>
                  <a:srgbClr val="475569"/>
                </a:solidFill>
                <a:latin typeface="Arial"/>
              </a:defRPr>
            </a:pPr>
            <a:r>
              <a:t>Architektúra je vrstvená: security a governance sú mimo LLM, nie iba v prompte.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60704"/>
            <a:ext cx="11155680" cy="18288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02920" y="1417320"/>
            <a:ext cx="1417320" cy="41148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User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011680" y="1417320"/>
            <a:ext cx="1600200" cy="41148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Frontend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49039" y="1417320"/>
            <a:ext cx="1828800" cy="41148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API Gateway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60720" y="1417320"/>
            <a:ext cx="1920240" cy="411480"/>
          </a:xfrm>
          <a:prstGeom prst="roundRect">
            <a:avLst/>
          </a:prstGeom>
          <a:solidFill>
            <a:srgbClr val="143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Orchestrator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1417320"/>
            <a:ext cx="1600200" cy="411480"/>
          </a:xfrm>
          <a:prstGeom prst="roundRect">
            <a:avLst/>
          </a:prstGeom>
          <a:solidFill>
            <a:srgbClr val="143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Modely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875520" y="1417320"/>
            <a:ext cx="1783080" cy="411480"/>
          </a:xfrm>
          <a:prstGeom prst="roundRect">
            <a:avLst/>
          </a:prstGeom>
          <a:solidFill>
            <a:srgbClr val="143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Zdroje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920240" y="1627632"/>
            <a:ext cx="9144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3611880" y="1627632"/>
            <a:ext cx="137159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5577840" y="1627632"/>
            <a:ext cx="18288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7680960" y="1627632"/>
            <a:ext cx="32004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9601200" y="1627632"/>
            <a:ext cx="27432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58368" y="2176272"/>
            <a:ext cx="1965960" cy="1143000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04672" y="2286000"/>
            <a:ext cx="1673351" cy="97840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defRPr sz="1350" b="1">
                <a:solidFill>
                  <a:srgbClr val="143053"/>
                </a:solidFill>
                <a:latin typeface="Arial"/>
              </a:defRPr>
            </a:pPr>
            <a:r>
              <a:t>Security</a:t>
            </a:r>
          </a:p>
          <a:p>
            <a:pPr>
              <a:spcAft>
                <a:spcPts val="200"/>
              </a:spcAft>
              <a:defRPr sz="1100">
                <a:solidFill>
                  <a:srgbClr val="0F172A"/>
                </a:solidFill>
                <a:latin typeface="Arial"/>
              </a:defRPr>
            </a:pPr>
            <a:r>
              <a:t>• Entra ID</a:t>
            </a:r>
          </a:p>
          <a:p>
            <a:pPr>
              <a:spcAft>
                <a:spcPts val="200"/>
              </a:spcAft>
              <a:defRPr sz="1100">
                <a:solidFill>
                  <a:srgbClr val="0F172A"/>
                </a:solidFill>
                <a:latin typeface="Arial"/>
              </a:defRPr>
            </a:pPr>
            <a:r>
              <a:t>• RBAC / ABAC</a:t>
            </a:r>
          </a:p>
          <a:p>
            <a:pPr>
              <a:spcAft>
                <a:spcPts val="200"/>
              </a:spcAft>
              <a:defRPr sz="1100">
                <a:solidFill>
                  <a:srgbClr val="0F172A"/>
                </a:solidFill>
                <a:latin typeface="Arial"/>
              </a:defRPr>
            </a:pPr>
            <a:r>
              <a:t>• Access packages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770632" y="2176272"/>
            <a:ext cx="2057400" cy="1143000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916936" y="2286000"/>
            <a:ext cx="1764792" cy="97840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defRPr sz="1350" b="1">
                <a:solidFill>
                  <a:srgbClr val="143053"/>
                </a:solidFill>
                <a:latin typeface="Arial"/>
              </a:defRPr>
            </a:pPr>
            <a:r>
              <a:t>Policy Enforcement</a:t>
            </a:r>
          </a:p>
          <a:p>
            <a:pPr>
              <a:spcAft>
                <a:spcPts val="200"/>
              </a:spcAft>
              <a:defRPr sz="1100">
                <a:solidFill>
                  <a:srgbClr val="0F172A"/>
                </a:solidFill>
                <a:latin typeface="Arial"/>
              </a:defRPr>
            </a:pPr>
            <a:r>
              <a:t>• claims</a:t>
            </a:r>
          </a:p>
          <a:p>
            <a:pPr>
              <a:spcAft>
                <a:spcPts val="200"/>
              </a:spcAft>
              <a:defRPr sz="1100">
                <a:solidFill>
                  <a:srgbClr val="0F172A"/>
                </a:solidFill>
                <a:latin typeface="Arial"/>
              </a:defRPr>
            </a:pPr>
            <a:r>
              <a:t>• data classification</a:t>
            </a:r>
          </a:p>
          <a:p>
            <a:pPr>
              <a:spcAft>
                <a:spcPts val="200"/>
              </a:spcAft>
              <a:defRPr sz="1100">
                <a:solidFill>
                  <a:srgbClr val="0F172A"/>
                </a:solidFill>
                <a:latin typeface="Arial"/>
              </a:defRPr>
            </a:pPr>
            <a:r>
              <a:t>• tool permissions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983480" y="2176272"/>
            <a:ext cx="2331720" cy="1143000"/>
          </a:xfrm>
          <a:prstGeom prst="roundRect">
            <a:avLst/>
          </a:prstGeom>
          <a:solidFill>
            <a:srgbClr val="DBEAFE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129784" y="2286000"/>
            <a:ext cx="2039112" cy="97840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defRPr sz="1350" b="1">
                <a:solidFill>
                  <a:srgbClr val="143053"/>
                </a:solidFill>
                <a:latin typeface="Arial"/>
              </a:defRPr>
            </a:pPr>
            <a:r>
              <a:t>Context Engineering</a:t>
            </a:r>
          </a:p>
          <a:p>
            <a:pPr>
              <a:spcAft>
                <a:spcPts val="200"/>
              </a:spcAft>
              <a:defRPr sz="1100">
                <a:solidFill>
                  <a:srgbClr val="0F172A"/>
                </a:solidFill>
                <a:latin typeface="Arial"/>
              </a:defRPr>
            </a:pPr>
            <a:r>
              <a:t>• RAG builder</a:t>
            </a:r>
          </a:p>
          <a:p>
            <a:pPr>
              <a:spcAft>
                <a:spcPts val="200"/>
              </a:spcAft>
              <a:defRPr sz="1100">
                <a:solidFill>
                  <a:srgbClr val="0F172A"/>
                </a:solidFill>
                <a:latin typeface="Arial"/>
              </a:defRPr>
            </a:pPr>
            <a:r>
              <a:t>• prompt templates</a:t>
            </a:r>
          </a:p>
          <a:p>
            <a:pPr>
              <a:spcAft>
                <a:spcPts val="200"/>
              </a:spcAft>
              <a:defRPr sz="1100">
                <a:solidFill>
                  <a:srgbClr val="0F172A"/>
                </a:solidFill>
                <a:latin typeface="Arial"/>
              </a:defRPr>
            </a:pPr>
            <a:r>
              <a:t>• source metadata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498079" y="2176272"/>
            <a:ext cx="1828800" cy="1143000"/>
          </a:xfrm>
          <a:prstGeom prst="roundRect">
            <a:avLst/>
          </a:prstGeom>
          <a:solidFill>
            <a:srgbClr val="DCFCE7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644383" y="2286000"/>
            <a:ext cx="1536192" cy="97840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defRPr sz="1350" b="1">
                <a:solidFill>
                  <a:srgbClr val="143053"/>
                </a:solidFill>
                <a:latin typeface="Arial"/>
              </a:defRPr>
            </a:pPr>
            <a:r>
              <a:t>Model Router</a:t>
            </a:r>
          </a:p>
          <a:p>
            <a:pPr>
              <a:spcAft>
                <a:spcPts val="200"/>
              </a:spcAft>
              <a:defRPr sz="1100">
                <a:solidFill>
                  <a:srgbClr val="0F172A"/>
                </a:solidFill>
                <a:latin typeface="Arial"/>
              </a:defRPr>
            </a:pPr>
            <a:r>
              <a:t>• local / cloud</a:t>
            </a:r>
          </a:p>
          <a:p>
            <a:pPr>
              <a:spcAft>
                <a:spcPts val="200"/>
              </a:spcAft>
              <a:defRPr sz="1100">
                <a:solidFill>
                  <a:srgbClr val="0F172A"/>
                </a:solidFill>
                <a:latin typeface="Arial"/>
              </a:defRPr>
            </a:pPr>
            <a:r>
              <a:t>• citlivosť dát</a:t>
            </a:r>
          </a:p>
          <a:p>
            <a:pPr>
              <a:spcAft>
                <a:spcPts val="200"/>
              </a:spcAft>
              <a:defRPr sz="1100">
                <a:solidFill>
                  <a:srgbClr val="0F172A"/>
                </a:solidFill>
                <a:latin typeface="Arial"/>
              </a:defRPr>
            </a:pPr>
            <a:r>
              <a:t>• kvalita vs. cost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555480" y="2176272"/>
            <a:ext cx="2011680" cy="1143000"/>
          </a:xfrm>
          <a:prstGeom prst="roundRect">
            <a:avLst/>
          </a:prstGeom>
          <a:solidFill>
            <a:srgbClr val="DCFCE7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701784" y="2286000"/>
            <a:ext cx="1719072" cy="97840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defRPr sz="1350" b="1">
                <a:solidFill>
                  <a:srgbClr val="143053"/>
                </a:solidFill>
                <a:latin typeface="Arial"/>
              </a:defRPr>
            </a:pPr>
            <a:r>
              <a:t>MCP / APIs</a:t>
            </a:r>
          </a:p>
          <a:p>
            <a:pPr>
              <a:spcAft>
                <a:spcPts val="200"/>
              </a:spcAft>
              <a:defRPr sz="1100">
                <a:solidFill>
                  <a:srgbClr val="0F172A"/>
                </a:solidFill>
                <a:latin typeface="Arial"/>
              </a:defRPr>
            </a:pPr>
            <a:r>
              <a:t>• SharePoint</a:t>
            </a:r>
          </a:p>
          <a:p>
            <a:pPr>
              <a:spcAft>
                <a:spcPts val="200"/>
              </a:spcAft>
              <a:defRPr sz="1100">
                <a:solidFill>
                  <a:srgbClr val="0F172A"/>
                </a:solidFill>
                <a:latin typeface="Arial"/>
              </a:defRPr>
            </a:pPr>
            <a:r>
              <a:t>• DB systémy</a:t>
            </a:r>
          </a:p>
          <a:p>
            <a:pPr>
              <a:spcAft>
                <a:spcPts val="200"/>
              </a:spcAft>
              <a:defRPr sz="1100">
                <a:solidFill>
                  <a:srgbClr val="0F172A"/>
                </a:solidFill>
                <a:latin typeface="Arial"/>
              </a:defRPr>
            </a:pPr>
            <a:r>
              <a:t>• Jira / ERP / CRM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3886200"/>
            <a:ext cx="10927080" cy="1051560"/>
          </a:xfrm>
          <a:prstGeom prst="roundRect">
            <a:avLst/>
          </a:prstGeom>
          <a:solidFill>
            <a:srgbClr val="FFF7ED"/>
          </a:solidFill>
          <a:ln>
            <a:solidFill>
              <a:srgbClr val="FDBA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EA580C"/>
                </a:solidFill>
                <a:latin typeface="Arial"/>
              </a:defRPr>
            </a:pPr>
            <a:r>
              <a:t>AI Governance &amp; Quality Layer: Input/Context Verifier  →  Output Verifier  →  Scoring Agent  →  Human-in-the-loop  →  Audit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51560" y="5413248"/>
            <a:ext cx="10012680" cy="475488"/>
          </a:xfrm>
          <a:prstGeom prst="round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LLM nesmie rozhodovať o oprávneniach. Oprávnenia sa vynucujú deterministicky mimo modelu.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73952"/>
            <a:ext cx="3227165" cy="35394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475569"/>
                </a:solidFill>
                <a:latin typeface="Arial"/>
              </a:defRPr>
            </a:pPr>
            <a:r>
              <a:rPr dirty="0" err="1"/>
              <a:t>I</a:t>
            </a:r>
            <a:r>
              <a:rPr lang="en-US" dirty="0" err="1"/>
              <a:t>Interný</a:t>
            </a:r>
            <a:r>
              <a:rPr lang="en-US" dirty="0"/>
              <a:t> AI </a:t>
            </a:r>
            <a:r>
              <a:rPr lang="en-US" dirty="0" err="1"/>
              <a:t>asistent</a:t>
            </a:r>
            <a:r>
              <a:rPr lang="en-US" dirty="0"/>
              <a:t> – . </a:t>
            </a:r>
            <a:r>
              <a:rPr lang="en-US" dirty="0" err="1"/>
              <a:t>obhajoba</a:t>
            </a:r>
            <a:r>
              <a:rPr lang="en-US" dirty="0"/>
              <a:t> </a:t>
            </a:r>
            <a:r>
              <a:rPr lang="en-US" dirty="0" err="1"/>
              <a:t>riešenia</a:t>
            </a:r>
            <a:r>
              <a:rPr lang="en-US" dirty="0"/>
              <a:t>, Marek Matonok 2026</a:t>
            </a:r>
          </a:p>
          <a:p>
            <a:pPr algn="l">
              <a:defRPr sz="850">
                <a:solidFill>
                  <a:srgbClr val="475569"/>
                </a:solidFill>
                <a:latin typeface="Arial"/>
              </a:defRPr>
            </a:pPr>
            <a:endParaRPr dirty="0"/>
          </a:p>
        </p:txBody>
      </p:sp>
      <p:sp>
        <p:nvSpPr>
          <p:cNvPr id="29" name="TextBox 28"/>
          <p:cNvSpPr txBox="1"/>
          <p:nvPr/>
        </p:nvSpPr>
        <p:spPr>
          <a:xfrm>
            <a:off x="11064240" y="6473952"/>
            <a:ext cx="594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475569"/>
                </a:solidFill>
                <a:latin typeface="Arial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201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43053"/>
                </a:solidFill>
                <a:latin typeface="Arial"/>
              </a:defRPr>
            </a:pPr>
            <a:r>
              <a:t>3. Runtime flow – ako vzniká odpoveď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60704"/>
            <a:ext cx="11155680" cy="18288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85800" y="1417320"/>
            <a:ext cx="411480" cy="41148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61288" y="1344168"/>
            <a:ext cx="2148840" cy="868680"/>
          </a:xfrm>
          <a:prstGeom prst="roundRect">
            <a:avLst/>
          </a:prstGeom>
          <a:solidFill>
            <a:srgbClr val="F8FAFC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307592" y="1453895"/>
            <a:ext cx="1856232" cy="70408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defRPr sz="1350" b="1">
                <a:solidFill>
                  <a:srgbClr val="0F172A"/>
                </a:solidFill>
                <a:latin typeface="Arial"/>
              </a:defRPr>
            </a:pPr>
            <a:r>
              <a:t>Otázka používateľa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337560" y="1572768"/>
            <a:ext cx="201168" cy="0"/>
          </a:xfrm>
          <a:prstGeom prst="line">
            <a:avLst/>
          </a:prstGeom>
          <a:ln w="1524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520440" y="1417320"/>
            <a:ext cx="411480" cy="41148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995928" y="1344168"/>
            <a:ext cx="2148840" cy="868680"/>
          </a:xfrm>
          <a:prstGeom prst="roundRect">
            <a:avLst/>
          </a:prstGeom>
          <a:solidFill>
            <a:srgbClr val="F8FAFC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142232" y="1453895"/>
            <a:ext cx="1856232" cy="70408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defRPr sz="1350" b="1">
                <a:solidFill>
                  <a:srgbClr val="0F172A"/>
                </a:solidFill>
                <a:latin typeface="Arial"/>
              </a:defRPr>
            </a:pPr>
            <a:r>
              <a:t>AuthN/AuthZ + policy check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172200" y="1572768"/>
            <a:ext cx="201168" cy="0"/>
          </a:xfrm>
          <a:prstGeom prst="line">
            <a:avLst/>
          </a:prstGeom>
          <a:ln w="1524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355080" y="1417320"/>
            <a:ext cx="411480" cy="41148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30568" y="1344168"/>
            <a:ext cx="2148840" cy="868680"/>
          </a:xfrm>
          <a:prstGeom prst="roundRect">
            <a:avLst/>
          </a:prstGeom>
          <a:solidFill>
            <a:srgbClr val="F8FAFC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976872" y="1453895"/>
            <a:ext cx="1856232" cy="70408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defRPr sz="1350" b="1">
                <a:solidFill>
                  <a:srgbClr val="0F172A"/>
                </a:solidFill>
                <a:latin typeface="Arial"/>
              </a:defRPr>
            </a:pPr>
            <a:r>
              <a:t>Input &amp; context verification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006840" y="1572768"/>
            <a:ext cx="201168" cy="0"/>
          </a:xfrm>
          <a:prstGeom prst="line">
            <a:avLst/>
          </a:prstGeom>
          <a:ln w="1524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9189720" y="1417320"/>
            <a:ext cx="411480" cy="41148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65208" y="1344168"/>
            <a:ext cx="2148840" cy="868680"/>
          </a:xfrm>
          <a:prstGeom prst="roundRect">
            <a:avLst/>
          </a:prstGeom>
          <a:solidFill>
            <a:srgbClr val="F8FAFC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811512" y="1453895"/>
            <a:ext cx="1856232" cy="70408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defRPr sz="1350" b="1">
                <a:solidFill>
                  <a:srgbClr val="0F172A"/>
                </a:solidFill>
                <a:latin typeface="Arial"/>
              </a:defRPr>
            </a:pPr>
            <a:r>
              <a:t>Permission-aware retrieval / MCP tools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3291839"/>
            <a:ext cx="411480" cy="41148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61288" y="3218687"/>
            <a:ext cx="2148840" cy="868680"/>
          </a:xfrm>
          <a:prstGeom prst="roundRect">
            <a:avLst/>
          </a:prstGeom>
          <a:solidFill>
            <a:srgbClr val="F8FAFC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307592" y="3328415"/>
            <a:ext cx="1856232" cy="70408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defRPr sz="1350" b="1">
                <a:solidFill>
                  <a:srgbClr val="0F172A"/>
                </a:solidFill>
                <a:latin typeface="Arial"/>
              </a:defRPr>
            </a:pPr>
            <a:r>
              <a:t>Model routing + odpoveď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337560" y="3447287"/>
            <a:ext cx="201168" cy="0"/>
          </a:xfrm>
          <a:prstGeom prst="line">
            <a:avLst/>
          </a:prstGeom>
          <a:ln w="1524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3520440" y="3291839"/>
            <a:ext cx="411480" cy="41148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995928" y="3218687"/>
            <a:ext cx="2148840" cy="868680"/>
          </a:xfrm>
          <a:prstGeom prst="roundRect">
            <a:avLst/>
          </a:prstGeom>
          <a:solidFill>
            <a:srgbClr val="F8FAFC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142232" y="3328415"/>
            <a:ext cx="1856232" cy="70408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defRPr sz="1350" b="1">
                <a:solidFill>
                  <a:srgbClr val="0F172A"/>
                </a:solidFill>
                <a:latin typeface="Arial"/>
              </a:defRPr>
            </a:pPr>
            <a:r>
              <a:t>Output verifier + scoring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172200" y="3447287"/>
            <a:ext cx="201168" cy="0"/>
          </a:xfrm>
          <a:prstGeom prst="line">
            <a:avLst/>
          </a:prstGeom>
          <a:ln w="1524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6355080" y="3291839"/>
            <a:ext cx="411480" cy="41148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7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830568" y="3218687"/>
            <a:ext cx="2148840" cy="868680"/>
          </a:xfrm>
          <a:prstGeom prst="roundRect">
            <a:avLst/>
          </a:prstGeom>
          <a:solidFill>
            <a:srgbClr val="F8FAFC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976872" y="3328415"/>
            <a:ext cx="1856232" cy="70408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defRPr sz="1350" b="1">
                <a:solidFill>
                  <a:srgbClr val="0F172A"/>
                </a:solidFill>
                <a:latin typeface="Arial"/>
              </a:defRPr>
            </a:pPr>
            <a:r>
              <a:t>Human review pri riziku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006840" y="3447287"/>
            <a:ext cx="201168" cy="0"/>
          </a:xfrm>
          <a:prstGeom prst="line">
            <a:avLst/>
          </a:prstGeom>
          <a:ln w="1524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9189720" y="3291839"/>
            <a:ext cx="411480" cy="41148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8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665208" y="3218687"/>
            <a:ext cx="2148840" cy="868680"/>
          </a:xfrm>
          <a:prstGeom prst="roundRect">
            <a:avLst/>
          </a:prstGeom>
          <a:solidFill>
            <a:srgbClr val="F8FAFC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9811512" y="3328415"/>
            <a:ext cx="1856232" cy="70408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defRPr sz="1350" b="1">
                <a:solidFill>
                  <a:srgbClr val="0F172A"/>
                </a:solidFill>
                <a:latin typeface="Arial"/>
              </a:defRPr>
            </a:pPr>
            <a:r>
              <a:t>Odpoveď so zdrojmi + audit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9418320" y="1828800"/>
            <a:ext cx="0" cy="1143000"/>
          </a:xfrm>
          <a:prstGeom prst="line">
            <a:avLst/>
          </a:prstGeom>
          <a:ln w="1524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H="1">
            <a:off x="8549640" y="3246120"/>
            <a:ext cx="274320" cy="0"/>
          </a:xfrm>
          <a:prstGeom prst="line">
            <a:avLst/>
          </a:prstGeom>
          <a:ln w="1524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5715000" y="3246120"/>
            <a:ext cx="274320" cy="0"/>
          </a:xfrm>
          <a:prstGeom prst="line">
            <a:avLst/>
          </a:prstGeom>
          <a:ln w="1524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H="1">
            <a:off x="2880360" y="3246120"/>
            <a:ext cx="274320" cy="0"/>
          </a:xfrm>
          <a:prstGeom prst="line">
            <a:avLst/>
          </a:prstGeom>
          <a:ln w="1524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914400" y="5440680"/>
            <a:ext cx="10332720" cy="731520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1060704" y="5550408"/>
            <a:ext cx="10040112" cy="56692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defRPr sz="1350" b="1">
                <a:solidFill>
                  <a:srgbClr val="143053"/>
                </a:solidFill>
                <a:latin typeface="Arial"/>
              </a:defRPr>
            </a:pPr>
            <a:r>
              <a:t>Kľúčový princíp</a:t>
            </a:r>
          </a:p>
          <a:p>
            <a:pPr>
              <a:spcAft>
                <a:spcPts val="2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Do modelu sa dostanú iba dáta, ktoré používateľ môže vidieť; nepodložené alebo rizikové odpovede sa odmietnu alebo eskalujú.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2920" y="6473952"/>
            <a:ext cx="3227165" cy="35394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475569"/>
                </a:solidFill>
                <a:latin typeface="Arial"/>
              </a:defRPr>
            </a:pPr>
            <a:r>
              <a:rPr dirty="0" err="1"/>
              <a:t>I</a:t>
            </a:r>
            <a:r>
              <a:rPr lang="en-US" dirty="0" err="1"/>
              <a:t>Interný</a:t>
            </a:r>
            <a:r>
              <a:rPr lang="en-US" dirty="0"/>
              <a:t> AI </a:t>
            </a:r>
            <a:r>
              <a:rPr lang="en-US" dirty="0" err="1"/>
              <a:t>asistent</a:t>
            </a:r>
            <a:r>
              <a:rPr lang="en-US" dirty="0"/>
              <a:t> – . </a:t>
            </a:r>
            <a:r>
              <a:rPr lang="en-US" dirty="0" err="1"/>
              <a:t>obhajoba</a:t>
            </a:r>
            <a:r>
              <a:rPr lang="en-US" dirty="0"/>
              <a:t> </a:t>
            </a:r>
            <a:r>
              <a:rPr lang="en-US" dirty="0" err="1"/>
              <a:t>riešenia</a:t>
            </a:r>
            <a:r>
              <a:rPr lang="en-US" dirty="0"/>
              <a:t>, Marek Matonok 2026</a:t>
            </a:r>
          </a:p>
          <a:p>
            <a:pPr algn="l">
              <a:defRPr sz="850">
                <a:solidFill>
                  <a:srgbClr val="475569"/>
                </a:solidFill>
                <a:latin typeface="Arial"/>
              </a:defRPr>
            </a:pPr>
            <a:endParaRPr dirty="0"/>
          </a:p>
        </p:txBody>
      </p:sp>
      <p:sp>
        <p:nvSpPr>
          <p:cNvPr id="41" name="TextBox 40"/>
          <p:cNvSpPr txBox="1"/>
          <p:nvPr/>
        </p:nvSpPr>
        <p:spPr>
          <a:xfrm>
            <a:off x="11064240" y="6473952"/>
            <a:ext cx="594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475569"/>
                </a:solidFill>
                <a:latin typeface="Arial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201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43053"/>
                </a:solidFill>
                <a:latin typeface="Arial"/>
              </a:defRPr>
            </a:pPr>
            <a:r>
              <a:t>4. Permission-aware RAG a práca s dokumentmi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60704"/>
            <a:ext cx="11155680" cy="18288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85800" y="1371600"/>
            <a:ext cx="3108960" cy="4526280"/>
          </a:xfrm>
          <a:prstGeom prst="roundRect">
            <a:avLst/>
          </a:prstGeom>
          <a:solidFill>
            <a:srgbClr val="F8FAFC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32104" y="1481328"/>
            <a:ext cx="2816352" cy="436168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defRPr sz="1350" b="1">
                <a:solidFill>
                  <a:srgbClr val="143053"/>
                </a:solidFill>
                <a:latin typeface="Arial"/>
              </a:defRPr>
            </a:pPr>
            <a:r>
              <a:t>Document processing</a:t>
            </a:r>
          </a:p>
          <a:p>
            <a:pPr>
              <a:spcAft>
                <a:spcPts val="2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ingest zo SharePointu, portálov a DB</a:t>
            </a:r>
          </a:p>
          <a:p>
            <a:pPr>
              <a:spcAft>
                <a:spcPts val="2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chunking + embeddings</a:t>
            </a:r>
          </a:p>
          <a:p>
            <a:pPr>
              <a:spcAft>
                <a:spcPts val="2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verzia, vlastník, zdroj, validita</a:t>
            </a:r>
          </a:p>
          <a:p>
            <a:pPr>
              <a:spcAft>
                <a:spcPts val="2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data classification a retention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60520" y="1371600"/>
            <a:ext cx="3566160" cy="4526280"/>
          </a:xfrm>
          <a:prstGeom prst="roundRect">
            <a:avLst/>
          </a:prstGeom>
          <a:solidFill>
            <a:srgbClr val="DBEAFE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06824" y="1481328"/>
            <a:ext cx="3273552" cy="436168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defRPr sz="1350" b="1">
                <a:solidFill>
                  <a:srgbClr val="143053"/>
                </a:solidFill>
                <a:latin typeface="Arial"/>
              </a:defRPr>
            </a:pPr>
            <a:r>
              <a:t>ACL metadata na chunku</a:t>
            </a:r>
          </a:p>
          <a:p>
            <a:pPr>
              <a:spcAft>
                <a:spcPts val="2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document_id, source_system, source_url</a:t>
            </a:r>
          </a:p>
          <a:p>
            <a:pPr>
              <a:spcAft>
                <a:spcPts val="2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acl_groups / acl_users</a:t>
            </a:r>
          </a:p>
          <a:p>
            <a:pPr>
              <a:spcAft>
                <a:spcPts val="2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classification, owner, department</a:t>
            </a:r>
          </a:p>
          <a:p>
            <a:pPr>
              <a:spcAft>
                <a:spcPts val="2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valid_from / valid_to</a:t>
            </a:r>
          </a:p>
          <a:p>
            <a:pPr>
              <a:spcAft>
                <a:spcPts val="2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retention policy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92440" y="1371600"/>
            <a:ext cx="3246120" cy="4526280"/>
          </a:xfrm>
          <a:prstGeom prst="roundRect">
            <a:avLst/>
          </a:prstGeom>
          <a:solidFill>
            <a:srgbClr val="DCFCE7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38744" y="1481328"/>
            <a:ext cx="2953512" cy="436168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defRPr sz="1350" b="1">
                <a:solidFill>
                  <a:srgbClr val="16A34A"/>
                </a:solidFill>
                <a:latin typeface="Arial"/>
              </a:defRPr>
            </a:pPr>
            <a:r>
              <a:t>Retrieval pravidlo</a:t>
            </a:r>
          </a:p>
          <a:p>
            <a:pPr>
              <a:spcAft>
                <a:spcPts val="2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1. načítať claims používateľa</a:t>
            </a:r>
          </a:p>
          <a:p>
            <a:pPr>
              <a:spcAft>
                <a:spcPts val="2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2. aplikovať ACL pre-filter</a:t>
            </a:r>
          </a:p>
          <a:p>
            <a:pPr>
              <a:spcAft>
                <a:spcPts val="2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3. hľadať len v povolenom scope</a:t>
            </a:r>
          </a:p>
          <a:p>
            <a:pPr>
              <a:spcAft>
                <a:spcPts val="2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4. vrátiť chunks so zdrojmi</a:t>
            </a:r>
          </a:p>
          <a:p>
            <a:pPr>
              <a:spcAft>
                <a:spcPts val="2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5. auditovať dokumenty použité v odpovedi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5989320"/>
            <a:ext cx="10287000" cy="411480"/>
          </a:xfrm>
          <a:prstGeom prst="round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50" b="1">
                <a:solidFill>
                  <a:srgbClr val="FFFFFF"/>
                </a:solidFill>
                <a:latin typeface="Arial"/>
              </a:defRPr>
            </a:pPr>
            <a:r>
              <a:t>Nesprávny vzor: retrieve všetko → nech model vyfiltruje. Správny vzor: filter pred retrievalom.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3196709" cy="35394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475569"/>
                </a:solidFill>
                <a:latin typeface="Arial"/>
              </a:defRPr>
            </a:pPr>
            <a:r>
              <a:rPr lang="en-US" dirty="0" err="1"/>
              <a:t>Interný</a:t>
            </a:r>
            <a:r>
              <a:rPr lang="en-US" dirty="0"/>
              <a:t> AI </a:t>
            </a:r>
            <a:r>
              <a:rPr lang="en-US" dirty="0" err="1"/>
              <a:t>asistent</a:t>
            </a:r>
            <a:r>
              <a:rPr lang="en-US" dirty="0"/>
              <a:t> – . </a:t>
            </a:r>
            <a:r>
              <a:rPr lang="en-US" dirty="0" err="1"/>
              <a:t>obhajoba</a:t>
            </a:r>
            <a:r>
              <a:rPr lang="en-US" dirty="0"/>
              <a:t> </a:t>
            </a:r>
            <a:r>
              <a:rPr lang="en-US" dirty="0" err="1"/>
              <a:t>riešenia</a:t>
            </a:r>
            <a:r>
              <a:rPr lang="en-US" dirty="0"/>
              <a:t>, Marek Matonok 2026</a:t>
            </a:r>
          </a:p>
          <a:p>
            <a:pPr algn="l">
              <a:defRPr sz="850">
                <a:solidFill>
                  <a:srgbClr val="475569"/>
                </a:solidFill>
                <a:latin typeface="Arial"/>
              </a:defRPr>
            </a:pPr>
            <a:endParaRPr dirty="0"/>
          </a:p>
        </p:txBody>
      </p:sp>
      <p:sp>
        <p:nvSpPr>
          <p:cNvPr id="12" name="TextBox 11"/>
          <p:cNvSpPr txBox="1"/>
          <p:nvPr/>
        </p:nvSpPr>
        <p:spPr>
          <a:xfrm>
            <a:off x="11064240" y="6473952"/>
            <a:ext cx="594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475569"/>
                </a:solidFill>
                <a:latin typeface="Arial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201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43053"/>
                </a:solidFill>
                <a:latin typeface="Arial"/>
              </a:defRPr>
            </a:pPr>
            <a:r>
              <a:t>5. Security, governance a audit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60704"/>
            <a:ext cx="11155680" cy="18288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40080" y="1325880"/>
            <a:ext cx="2743200" cy="4434840"/>
          </a:xfrm>
          <a:prstGeom prst="roundRect">
            <a:avLst/>
          </a:prstGeom>
          <a:solidFill>
            <a:srgbClr val="F8FAFC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86384" y="1435607"/>
            <a:ext cx="2450592" cy="427024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defRPr sz="1350" b="1">
                <a:solidFill>
                  <a:srgbClr val="143053"/>
                </a:solidFill>
                <a:latin typeface="Arial"/>
              </a:defRPr>
            </a:pPr>
            <a:r>
              <a:t>Security controls</a:t>
            </a:r>
          </a:p>
          <a:p>
            <a:pPr>
              <a:spcAft>
                <a:spcPts val="2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Entra ID a delegated identity</a:t>
            </a:r>
          </a:p>
          <a:p>
            <a:pPr>
              <a:spcAft>
                <a:spcPts val="2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policy enforcement pred tools</a:t>
            </a:r>
          </a:p>
          <a:p>
            <a:pPr>
              <a:spcAft>
                <a:spcPts val="2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DLP / PII / secrets redaction</a:t>
            </a:r>
          </a:p>
          <a:p>
            <a:pPr>
              <a:spcAft>
                <a:spcPts val="2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tool allowlist a approval gates</a:t>
            </a:r>
          </a:p>
          <a:p>
            <a:pPr>
              <a:spcAft>
                <a:spcPts val="2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network isolation podľa citlivosti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11880" y="1325880"/>
            <a:ext cx="2743200" cy="4434840"/>
          </a:xfrm>
          <a:prstGeom prst="roundRect">
            <a:avLst/>
          </a:prstGeom>
          <a:solidFill>
            <a:srgbClr val="DBEAFE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758184" y="1435607"/>
            <a:ext cx="2450592" cy="427024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defRPr sz="1350" b="1">
                <a:solidFill>
                  <a:srgbClr val="143053"/>
                </a:solidFill>
                <a:latin typeface="Arial"/>
              </a:defRPr>
            </a:pPr>
            <a:r>
              <a:t>Governance</a:t>
            </a:r>
          </a:p>
          <a:p>
            <a:pPr>
              <a:spcAft>
                <a:spcPts val="2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business owner pre use case</a:t>
            </a:r>
          </a:p>
          <a:p>
            <a:pPr>
              <a:spcAft>
                <a:spcPts val="2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data owner pre zdroj</a:t>
            </a:r>
          </a:p>
          <a:p>
            <a:pPr>
              <a:spcAft>
                <a:spcPts val="2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AI/platform owner</a:t>
            </a:r>
          </a:p>
          <a:p>
            <a:pPr>
              <a:spcAft>
                <a:spcPts val="2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risk/compliance review</a:t>
            </a:r>
          </a:p>
          <a:p>
            <a:pPr>
              <a:spcAft>
                <a:spcPts val="2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change management pre modely a prompty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0" y="1325880"/>
            <a:ext cx="4709160" cy="2011680"/>
          </a:xfrm>
          <a:prstGeom prst="roundRect">
            <a:avLst/>
          </a:prstGeom>
          <a:solidFill>
            <a:srgbClr val="DCFCE7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729984" y="1435607"/>
            <a:ext cx="4416552" cy="12875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defRPr sz="1350" b="1">
                <a:solidFill>
                  <a:srgbClr val="16A34A"/>
                </a:solidFill>
                <a:latin typeface="Arial"/>
              </a:defRPr>
            </a:pPr>
            <a:r>
              <a:rPr dirty="0" err="1"/>
              <a:t>Auditovať</a:t>
            </a:r>
            <a:r>
              <a:rPr dirty="0"/>
              <a:t> </a:t>
            </a:r>
            <a:r>
              <a:rPr dirty="0" err="1"/>
              <a:t>vždy</a:t>
            </a:r>
            <a:endParaRPr dirty="0"/>
          </a:p>
          <a:p>
            <a:pPr>
              <a:spcAft>
                <a:spcPts val="2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rPr dirty="0"/>
              <a:t>• user/session/request id</a:t>
            </a:r>
          </a:p>
          <a:p>
            <a:pPr>
              <a:spcAft>
                <a:spcPts val="2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rPr dirty="0"/>
              <a:t>• model a prompt template version</a:t>
            </a:r>
          </a:p>
          <a:p>
            <a:pPr>
              <a:spcAft>
                <a:spcPts val="2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rPr dirty="0"/>
              <a:t>• tool calls a source systems</a:t>
            </a:r>
          </a:p>
          <a:p>
            <a:pPr>
              <a:spcAft>
                <a:spcPts val="2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rPr dirty="0"/>
              <a:t>• document ids/chunk ids</a:t>
            </a:r>
          </a:p>
          <a:p>
            <a:pPr>
              <a:spcAft>
                <a:spcPts val="2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rPr dirty="0"/>
              <a:t>• authorization decision a scoring result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0" y="3749039"/>
            <a:ext cx="4709160" cy="2011680"/>
          </a:xfrm>
          <a:prstGeom prst="roundRect">
            <a:avLst/>
          </a:prstGeom>
          <a:solidFill>
            <a:srgbClr val="FEE2E2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729984" y="3858768"/>
            <a:ext cx="4416552" cy="184708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defRPr sz="1350" b="1">
                <a:solidFill>
                  <a:srgbClr val="DC2626"/>
                </a:solidFill>
                <a:latin typeface="Arial"/>
              </a:defRPr>
            </a:pPr>
            <a:r>
              <a:t>Logovať opatrne / redigovane</a:t>
            </a:r>
          </a:p>
          <a:p>
            <a:pPr>
              <a:spcAft>
                <a:spcPts val="2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raw prompt, raw chunks, raw answer</a:t>
            </a:r>
          </a:p>
          <a:p>
            <a:pPr>
              <a:spcAft>
                <a:spcPts val="2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osobné údaje, tajomstvá, finančné údaje</a:t>
            </a:r>
          </a:p>
          <a:p>
            <a:pPr>
              <a:spcAft>
                <a:spcPts val="2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retencia, legal hold, SIEM integrácia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73952"/>
            <a:ext cx="3227165" cy="35394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475569"/>
                </a:solidFill>
                <a:latin typeface="Arial"/>
              </a:defRPr>
            </a:pPr>
            <a:r>
              <a:rPr dirty="0" err="1"/>
              <a:t>I</a:t>
            </a:r>
            <a:r>
              <a:rPr lang="en-US" dirty="0" err="1"/>
              <a:t>Interný</a:t>
            </a:r>
            <a:r>
              <a:rPr lang="en-US" dirty="0"/>
              <a:t> AI </a:t>
            </a:r>
            <a:r>
              <a:rPr lang="en-US" dirty="0" err="1"/>
              <a:t>asistent</a:t>
            </a:r>
            <a:r>
              <a:rPr lang="en-US" dirty="0"/>
              <a:t> – . </a:t>
            </a:r>
            <a:r>
              <a:rPr lang="en-US" dirty="0" err="1"/>
              <a:t>obhajoba</a:t>
            </a:r>
            <a:r>
              <a:rPr lang="en-US" dirty="0"/>
              <a:t> </a:t>
            </a:r>
            <a:r>
              <a:rPr lang="en-US" dirty="0" err="1"/>
              <a:t>riešenia</a:t>
            </a:r>
            <a:r>
              <a:rPr lang="en-US" dirty="0"/>
              <a:t>, Marek Matonok 2026</a:t>
            </a:r>
          </a:p>
          <a:p>
            <a:pPr algn="l">
              <a:defRPr sz="850">
                <a:solidFill>
                  <a:srgbClr val="475569"/>
                </a:solidFill>
                <a:latin typeface="Arial"/>
              </a:defRPr>
            </a:pPr>
            <a:endParaRPr dirty="0"/>
          </a:p>
        </p:txBody>
      </p:sp>
      <p:sp>
        <p:nvSpPr>
          <p:cNvPr id="13" name="TextBox 12"/>
          <p:cNvSpPr txBox="1"/>
          <p:nvPr/>
        </p:nvSpPr>
        <p:spPr>
          <a:xfrm>
            <a:off x="11064240" y="6473952"/>
            <a:ext cx="594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475569"/>
                </a:solidFill>
                <a:latin typeface="Arial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201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43053"/>
                </a:solidFill>
                <a:latin typeface="Arial"/>
              </a:defRPr>
            </a:pPr>
            <a:r>
              <a:t>6. Kvalita odpovedí, scoring a human-in-the-loop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60704"/>
            <a:ext cx="11155680" cy="18288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85800" y="1325880"/>
            <a:ext cx="3108960" cy="4343400"/>
          </a:xfrm>
          <a:prstGeom prst="roundRect">
            <a:avLst/>
          </a:prstGeom>
          <a:solidFill>
            <a:srgbClr val="F8FAFC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32104" y="1435607"/>
            <a:ext cx="2816352" cy="417880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defRPr sz="1350" b="1">
                <a:solidFill>
                  <a:srgbClr val="143053"/>
                </a:solidFill>
                <a:latin typeface="Arial"/>
              </a:defRPr>
            </a:pPr>
            <a:r>
              <a:t>Output verifier</a:t>
            </a:r>
          </a:p>
          <a:p>
            <a:pPr>
              <a:spcAft>
                <a:spcPts val="2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kontrola tvrdení voči zdrojom</a:t>
            </a:r>
          </a:p>
          <a:p>
            <a:pPr>
              <a:spcAft>
                <a:spcPts val="2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supported / partial / unsupported</a:t>
            </a:r>
          </a:p>
          <a:p>
            <a:pPr>
              <a:spcAft>
                <a:spcPts val="2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citácie nestačia – zdroj musí tvrdenie podporovať</a:t>
            </a:r>
          </a:p>
          <a:p>
            <a:pPr>
              <a:spcAft>
                <a:spcPts val="2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ak chýba zdroj, systém prizná limit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60520" y="1325880"/>
            <a:ext cx="3291840" cy="4343400"/>
          </a:xfrm>
          <a:prstGeom prst="roundRect">
            <a:avLst/>
          </a:prstGeom>
          <a:solidFill>
            <a:srgbClr val="DBEAFE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06824" y="1435607"/>
            <a:ext cx="2999232" cy="417880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defRPr sz="1350" b="1">
                <a:solidFill>
                  <a:srgbClr val="143053"/>
                </a:solidFill>
                <a:latin typeface="Arial"/>
              </a:defRPr>
            </a:pPr>
            <a:r>
              <a:t>Scoring dimenzie</a:t>
            </a:r>
          </a:p>
          <a:p>
            <a:pPr>
              <a:spcAft>
                <a:spcPts val="2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groundedness</a:t>
            </a:r>
          </a:p>
          <a:p>
            <a:pPr>
              <a:spcAft>
                <a:spcPts val="2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source coverage</a:t>
            </a:r>
          </a:p>
          <a:p>
            <a:pPr>
              <a:spcAft>
                <a:spcPts val="2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authorization risk</a:t>
            </a:r>
          </a:p>
          <a:p>
            <a:pPr>
              <a:spcAft>
                <a:spcPts val="2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prompt injection risk</a:t>
            </a:r>
          </a:p>
          <a:p>
            <a:pPr>
              <a:spcAft>
                <a:spcPts val="2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PII/data leakage risk</a:t>
            </a:r>
          </a:p>
          <a:p>
            <a:pPr>
              <a:spcAft>
                <a:spcPts val="2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business criticality</a:t>
            </a:r>
          </a:p>
          <a:p>
            <a:pPr>
              <a:spcAft>
                <a:spcPts val="2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answer completeness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18120" y="1325880"/>
            <a:ext cx="3474720" cy="4343400"/>
          </a:xfrm>
          <a:prstGeom prst="roundRect">
            <a:avLst/>
          </a:prstGeom>
          <a:solidFill>
            <a:srgbClr val="FFF7ED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964424" y="1435607"/>
            <a:ext cx="3182112" cy="417880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defRPr sz="1350" b="1">
                <a:solidFill>
                  <a:srgbClr val="EA580C"/>
                </a:solidFill>
                <a:latin typeface="Arial"/>
              </a:defRPr>
            </a:pPr>
            <a:r>
              <a:t>Routing rozhodnutie</a:t>
            </a:r>
          </a:p>
          <a:p>
            <a:pPr>
              <a:spcAft>
                <a:spcPts val="2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OK → odpoveď používateľovi</a:t>
            </a:r>
          </a:p>
          <a:p>
            <a:pPr>
              <a:spcAft>
                <a:spcPts val="2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unsupported claim → úprava/odmietnutie</a:t>
            </a:r>
          </a:p>
          <a:p>
            <a:pPr>
              <a:spcAft>
                <a:spcPts val="2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vysoké riziko → human approval</a:t>
            </a:r>
          </a:p>
          <a:p>
            <a:pPr>
              <a:spcAft>
                <a:spcPts val="2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PII/secrets → redact/block</a:t>
            </a:r>
          </a:p>
          <a:p>
            <a:pPr>
              <a:spcAft>
                <a:spcPts val="2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auth mismatch → hard block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5897880"/>
            <a:ext cx="9829800" cy="411480"/>
          </a:xfrm>
          <a:prstGeom prst="roundRect">
            <a:avLst/>
          </a:prstGeom>
          <a:solidFill>
            <a:srgbClr val="143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50" b="1">
                <a:solidFill>
                  <a:srgbClr val="FFFFFF"/>
                </a:solidFill>
                <a:latin typeface="Arial"/>
              </a:defRPr>
            </a:pPr>
            <a:r>
              <a:t>Human-in-the-loop je kvalitatívna a riziková kontrola. Nie je náhradou za autorizáciu.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3196709" cy="35394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475569"/>
                </a:solidFill>
                <a:latin typeface="Arial"/>
              </a:defRPr>
            </a:pPr>
            <a:r>
              <a:rPr lang="en-US" dirty="0" err="1"/>
              <a:t>Interný</a:t>
            </a:r>
            <a:r>
              <a:rPr lang="en-US" dirty="0"/>
              <a:t> AI </a:t>
            </a:r>
            <a:r>
              <a:rPr lang="en-US" dirty="0" err="1"/>
              <a:t>asistent</a:t>
            </a:r>
            <a:r>
              <a:rPr lang="en-US" dirty="0"/>
              <a:t> – . </a:t>
            </a:r>
            <a:r>
              <a:rPr lang="en-US" dirty="0" err="1"/>
              <a:t>obhajoba</a:t>
            </a:r>
            <a:r>
              <a:rPr lang="en-US" dirty="0"/>
              <a:t> </a:t>
            </a:r>
            <a:r>
              <a:rPr lang="en-US" dirty="0" err="1"/>
              <a:t>riešenia</a:t>
            </a:r>
            <a:r>
              <a:rPr lang="en-US" dirty="0"/>
              <a:t>, Marek Matonok 2026</a:t>
            </a:r>
          </a:p>
          <a:p>
            <a:pPr algn="l">
              <a:defRPr sz="850">
                <a:solidFill>
                  <a:srgbClr val="475569"/>
                </a:solidFill>
                <a:latin typeface="Arial"/>
              </a:defRPr>
            </a:pPr>
            <a:endParaRPr dirty="0"/>
          </a:p>
        </p:txBody>
      </p:sp>
      <p:sp>
        <p:nvSpPr>
          <p:cNvPr id="12" name="TextBox 11"/>
          <p:cNvSpPr txBox="1"/>
          <p:nvPr/>
        </p:nvSpPr>
        <p:spPr>
          <a:xfrm>
            <a:off x="11064240" y="6473952"/>
            <a:ext cx="594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475569"/>
                </a:solidFill>
                <a:latin typeface="Arial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201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43053"/>
                </a:solidFill>
                <a:latin typeface="Arial"/>
              </a:defRPr>
            </a:pPr>
            <a:r>
              <a:t>7. Porovnanie alternatív a odporúčanie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60704"/>
            <a:ext cx="11155680" cy="18288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594360" y="1325880"/>
            <a:ext cx="2423160" cy="411480"/>
          </a:xfrm>
          <a:prstGeom prst="roundRect">
            <a:avLst/>
          </a:prstGeom>
          <a:solidFill>
            <a:srgbClr val="143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Prístup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46120" y="1325880"/>
            <a:ext cx="2423160" cy="411480"/>
          </a:xfrm>
          <a:prstGeom prst="roundRect">
            <a:avLst/>
          </a:prstGeom>
          <a:solidFill>
            <a:srgbClr val="143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Výhody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97880" y="1325880"/>
            <a:ext cx="2423160" cy="411480"/>
          </a:xfrm>
          <a:prstGeom prst="roundRect">
            <a:avLst/>
          </a:prstGeom>
          <a:solidFill>
            <a:srgbClr val="143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Nevýhody / riziká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49640" y="1325880"/>
            <a:ext cx="2423160" cy="411480"/>
          </a:xfrm>
          <a:prstGeom prst="roundRect">
            <a:avLst/>
          </a:prstGeom>
          <a:solidFill>
            <a:srgbClr val="143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Vhodnosť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965960"/>
            <a:ext cx="2423160" cy="96012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50" b="1">
                <a:solidFill>
                  <a:srgbClr val="0F172A"/>
                </a:solidFill>
                <a:latin typeface="Arial"/>
              </a:defRPr>
            </a:pPr>
            <a:r>
              <a:t>Cloud AI služby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46120" y="1965960"/>
            <a:ext cx="2423160" cy="96012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50">
                <a:solidFill>
                  <a:srgbClr val="0F172A"/>
                </a:solidFill>
                <a:latin typeface="Arial"/>
              </a:defRPr>
            </a:pPr>
            <a:r>
              <a:t>vysoká kvalita, rýchly štart, škálovanie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97880" y="1965960"/>
            <a:ext cx="2423160" cy="96012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50">
                <a:solidFill>
                  <a:srgbClr val="0F172A"/>
                </a:solidFill>
                <a:latin typeface="Arial"/>
              </a:defRPr>
            </a:pPr>
            <a:r>
              <a:t>dátová politika, vendor lock-in, cost control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49640" y="1965960"/>
            <a:ext cx="2423160" cy="96012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50">
                <a:solidFill>
                  <a:srgbClr val="0F172A"/>
                </a:solidFill>
                <a:latin typeface="Arial"/>
              </a:defRPr>
            </a:pPr>
            <a:r>
              <a:t>nízko/stredne citlivé use cases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3108960"/>
            <a:ext cx="2423160" cy="96012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50" b="1">
                <a:solidFill>
                  <a:srgbClr val="0F172A"/>
                </a:solidFill>
                <a:latin typeface="Arial"/>
              </a:defRPr>
            </a:pPr>
            <a:r>
              <a:t>On-prem / lokálne modely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46120" y="3108960"/>
            <a:ext cx="2423160" cy="96012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50">
                <a:solidFill>
                  <a:srgbClr val="0F172A"/>
                </a:solidFill>
                <a:latin typeface="Arial"/>
              </a:defRPr>
            </a:pPr>
            <a:r>
              <a:t>kontrola dát, izolácia, vhodné pre citlivé dáta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897880" y="3108960"/>
            <a:ext cx="2423160" cy="96012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50">
                <a:solidFill>
                  <a:srgbClr val="0F172A"/>
                </a:solidFill>
                <a:latin typeface="Arial"/>
              </a:defRPr>
            </a:pPr>
            <a:r>
              <a:t>nižšia kvalita, infra náklady, MLOps náročnosť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49640" y="3108960"/>
            <a:ext cx="2423160" cy="96012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50">
                <a:solidFill>
                  <a:srgbClr val="0F172A"/>
                </a:solidFill>
                <a:latin typeface="Arial"/>
              </a:defRPr>
            </a:pPr>
            <a:r>
              <a:t>citlivé a regulované dáta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4251960"/>
            <a:ext cx="2423160" cy="960120"/>
          </a:xfrm>
          <a:prstGeom prst="roundRect">
            <a:avLst/>
          </a:prstGeom>
          <a:solidFill>
            <a:srgbClr val="DCFCE7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50" b="1">
                <a:solidFill>
                  <a:srgbClr val="0F172A"/>
                </a:solidFill>
                <a:latin typeface="Arial"/>
              </a:defRPr>
            </a:pPr>
            <a:r>
              <a:t>Hybridný prístup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46120" y="4251960"/>
            <a:ext cx="2423160" cy="960120"/>
          </a:xfrm>
          <a:prstGeom prst="roundRect">
            <a:avLst/>
          </a:prstGeom>
          <a:solidFill>
            <a:srgbClr val="DCFCE7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50" b="1">
                <a:solidFill>
                  <a:srgbClr val="0F172A"/>
                </a:solidFill>
                <a:latin typeface="Arial"/>
              </a:defRPr>
            </a:pPr>
            <a:r>
              <a:t>balans kvality, bezpečnosti a nákladov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97880" y="4251960"/>
            <a:ext cx="2423160" cy="960120"/>
          </a:xfrm>
          <a:prstGeom prst="roundRect">
            <a:avLst/>
          </a:prstGeom>
          <a:solidFill>
            <a:srgbClr val="DCFCE7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50" b="1">
                <a:solidFill>
                  <a:srgbClr val="0F172A"/>
                </a:solidFill>
                <a:latin typeface="Arial"/>
              </a:defRPr>
            </a:pPr>
            <a:r>
              <a:t>vyššia architektonická komplexita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549640" y="4251960"/>
            <a:ext cx="2423160" cy="960120"/>
          </a:xfrm>
          <a:prstGeom prst="roundRect">
            <a:avLst/>
          </a:prstGeom>
          <a:solidFill>
            <a:srgbClr val="DCFCE7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50" b="1">
                <a:solidFill>
                  <a:srgbClr val="0F172A"/>
                </a:solidFill>
                <a:latin typeface="Arial"/>
              </a:defRPr>
            </a:pPr>
            <a:r>
              <a:t>odporúčané pre enterprise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" y="5623560"/>
            <a:ext cx="10287000" cy="50292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Odporúčanie: hybrid + model routing podľa citlivosti dát, požadovanej kvality a nákladov.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73952"/>
            <a:ext cx="3196709" cy="35394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475569"/>
                </a:solidFill>
                <a:latin typeface="Arial"/>
              </a:defRPr>
            </a:pPr>
            <a:r>
              <a:rPr lang="en-US" dirty="0" err="1"/>
              <a:t>Interný</a:t>
            </a:r>
            <a:r>
              <a:rPr lang="en-US" dirty="0"/>
              <a:t> AI </a:t>
            </a:r>
            <a:r>
              <a:rPr lang="en-US" dirty="0" err="1"/>
              <a:t>asistent</a:t>
            </a:r>
            <a:r>
              <a:rPr lang="en-US" dirty="0"/>
              <a:t> – . </a:t>
            </a:r>
            <a:r>
              <a:rPr lang="en-US" dirty="0" err="1"/>
              <a:t>obhajoba</a:t>
            </a:r>
            <a:r>
              <a:rPr lang="en-US" dirty="0"/>
              <a:t> </a:t>
            </a:r>
            <a:r>
              <a:rPr lang="en-US" dirty="0" err="1"/>
              <a:t>riešenia</a:t>
            </a:r>
            <a:r>
              <a:rPr lang="en-US" dirty="0"/>
              <a:t>, Marek Matonok 2026</a:t>
            </a:r>
          </a:p>
          <a:p>
            <a:pPr algn="l">
              <a:defRPr sz="850">
                <a:solidFill>
                  <a:srgbClr val="475569"/>
                </a:solidFill>
                <a:latin typeface="Arial"/>
              </a:defRPr>
            </a:pPr>
            <a:endParaRPr dirty="0"/>
          </a:p>
        </p:txBody>
      </p:sp>
      <p:sp>
        <p:nvSpPr>
          <p:cNvPr id="22" name="TextBox 21"/>
          <p:cNvSpPr txBox="1"/>
          <p:nvPr/>
        </p:nvSpPr>
        <p:spPr>
          <a:xfrm>
            <a:off x="11064240" y="6473952"/>
            <a:ext cx="594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475569"/>
                </a:solidFill>
                <a:latin typeface="Arial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201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43053"/>
                </a:solidFill>
                <a:latin typeface="Arial"/>
              </a:defRPr>
            </a:pPr>
            <a:r>
              <a:t>8. Roadmapa zavedenia – riadená exit kritériami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60704"/>
            <a:ext cx="11155680" cy="18288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85800" y="1828800"/>
            <a:ext cx="1600200" cy="2148840"/>
          </a:xfrm>
          <a:prstGeom prst="roundRect">
            <a:avLst/>
          </a:prstGeom>
          <a:solidFill>
            <a:srgbClr val="DBEAFE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32104" y="1938528"/>
            <a:ext cx="1307592" cy="198424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defRPr sz="1350" b="1">
                <a:solidFill>
                  <a:srgbClr val="143053"/>
                </a:solidFill>
                <a:latin typeface="Arial"/>
              </a:defRPr>
            </a:pPr>
            <a:r>
              <a:t>Discovery</a:t>
            </a:r>
          </a:p>
          <a:p>
            <a:pPr>
              <a:spcAft>
                <a:spcPts val="200"/>
              </a:spcAft>
              <a:defRPr sz="1019">
                <a:solidFill>
                  <a:srgbClr val="0F172A"/>
                </a:solidFill>
                <a:latin typeface="Arial"/>
              </a:defRPr>
            </a:pPr>
            <a:r>
              <a:t>• schválené use cases, zdroje, riziká, vlastníci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313432" y="2880360"/>
            <a:ext cx="182880" cy="0"/>
          </a:xfrm>
          <a:prstGeom prst="line">
            <a:avLst/>
          </a:prstGeom>
          <a:ln w="1397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542032" y="1828800"/>
            <a:ext cx="1600200" cy="2148840"/>
          </a:xfrm>
          <a:prstGeom prst="roundRect">
            <a:avLst/>
          </a:prstGeom>
          <a:solidFill>
            <a:srgbClr val="DBEAFE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688336" y="1938528"/>
            <a:ext cx="1307592" cy="198424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defRPr sz="1350" b="1">
                <a:solidFill>
                  <a:srgbClr val="143053"/>
                </a:solidFill>
                <a:latin typeface="Arial"/>
              </a:defRPr>
            </a:pPr>
            <a:r>
              <a:t>PoC</a:t>
            </a:r>
          </a:p>
          <a:p>
            <a:pPr>
              <a:spcAft>
                <a:spcPts val="200"/>
              </a:spcAft>
              <a:defRPr sz="1019">
                <a:solidFill>
                  <a:srgbClr val="0F172A"/>
                </a:solidFill>
                <a:latin typeface="Arial"/>
              </a:defRPr>
            </a:pPr>
            <a:r>
              <a:t>• overený permission-aware RAG, citácie, základný audit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169663" y="2880360"/>
            <a:ext cx="182881" cy="0"/>
          </a:xfrm>
          <a:prstGeom prst="line">
            <a:avLst/>
          </a:prstGeom>
          <a:ln w="1397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398264" y="1828800"/>
            <a:ext cx="1600200" cy="2148840"/>
          </a:xfrm>
          <a:prstGeom prst="roundRect">
            <a:avLst/>
          </a:prstGeom>
          <a:solidFill>
            <a:srgbClr val="DCFCE7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44568" y="1938528"/>
            <a:ext cx="1307592" cy="198424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defRPr sz="1350" b="1">
                <a:solidFill>
                  <a:srgbClr val="143053"/>
                </a:solidFill>
                <a:latin typeface="Arial"/>
              </a:defRPr>
            </a:pPr>
            <a:r>
              <a:t>MVP</a:t>
            </a:r>
          </a:p>
          <a:p>
            <a:pPr>
              <a:spcAft>
                <a:spcPts val="200"/>
              </a:spcAft>
              <a:defRPr sz="1019">
                <a:solidFill>
                  <a:srgbClr val="0F172A"/>
                </a:solidFill>
                <a:latin typeface="Arial"/>
              </a:defRPr>
            </a:pPr>
            <a:r>
              <a:t>• použiteľný asistent pre obmedzenú skupinu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025896" y="2880360"/>
            <a:ext cx="182879" cy="0"/>
          </a:xfrm>
          <a:prstGeom prst="line">
            <a:avLst/>
          </a:prstGeom>
          <a:ln w="1397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254496" y="1828800"/>
            <a:ext cx="1600200" cy="2148840"/>
          </a:xfrm>
          <a:prstGeom prst="roundRect">
            <a:avLst/>
          </a:prstGeom>
          <a:solidFill>
            <a:srgbClr val="DCFCE7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0" y="1938528"/>
            <a:ext cx="1307592" cy="198424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defRPr sz="1350" b="1">
                <a:solidFill>
                  <a:srgbClr val="143053"/>
                </a:solidFill>
                <a:latin typeface="Arial"/>
              </a:defRPr>
            </a:pPr>
            <a:r>
              <a:t>Pilot</a:t>
            </a:r>
          </a:p>
          <a:p>
            <a:pPr>
              <a:spcAft>
                <a:spcPts val="200"/>
              </a:spcAft>
              <a:defRPr sz="1019">
                <a:solidFill>
                  <a:srgbClr val="0F172A"/>
                </a:solidFill>
                <a:latin typeface="Arial"/>
              </a:defRPr>
            </a:pPr>
            <a:r>
              <a:t>• metriky kvality, bezpečnosti, adopcie a costov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882127" y="2880360"/>
            <a:ext cx="182881" cy="0"/>
          </a:xfrm>
          <a:prstGeom prst="line">
            <a:avLst/>
          </a:prstGeom>
          <a:ln w="1397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110727" y="1828800"/>
            <a:ext cx="1600200" cy="2148840"/>
          </a:xfrm>
          <a:prstGeom prst="roundRect">
            <a:avLst/>
          </a:prstGeom>
          <a:solidFill>
            <a:srgbClr val="FFF7ED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57031" y="1938528"/>
            <a:ext cx="1307592" cy="198424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defRPr sz="1350" b="1">
                <a:solidFill>
                  <a:srgbClr val="143053"/>
                </a:solidFill>
                <a:latin typeface="Arial"/>
              </a:defRPr>
            </a:pPr>
            <a:r>
              <a:t>Produkcia</a:t>
            </a:r>
          </a:p>
          <a:p>
            <a:pPr>
              <a:spcAft>
                <a:spcPts val="200"/>
              </a:spcAft>
              <a:defRPr sz="1019">
                <a:solidFill>
                  <a:srgbClr val="0F172A"/>
                </a:solidFill>
                <a:latin typeface="Arial"/>
              </a:defRPr>
            </a:pPr>
            <a:r>
              <a:t>• go/no-go report, runbook, monitoring, support model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738359" y="2880360"/>
            <a:ext cx="182881" cy="0"/>
          </a:xfrm>
          <a:prstGeom prst="line">
            <a:avLst/>
          </a:prstGeom>
          <a:ln w="1397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9966959" y="1828800"/>
            <a:ext cx="1600200" cy="2148840"/>
          </a:xfrm>
          <a:prstGeom prst="roundRect">
            <a:avLst/>
          </a:prstGeom>
          <a:solidFill>
            <a:srgbClr val="FFF7ED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113263" y="1938528"/>
            <a:ext cx="1307592" cy="198424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defRPr sz="1350" b="1">
                <a:solidFill>
                  <a:srgbClr val="143053"/>
                </a:solidFill>
                <a:latin typeface="Arial"/>
              </a:defRPr>
            </a:pPr>
            <a:r>
              <a:t>Rozvoj</a:t>
            </a:r>
          </a:p>
          <a:p>
            <a:pPr>
              <a:spcAft>
                <a:spcPts val="200"/>
              </a:spcAft>
              <a:defRPr sz="1019">
                <a:solidFill>
                  <a:srgbClr val="0F172A"/>
                </a:solidFill>
                <a:latin typeface="Arial"/>
              </a:defRPr>
            </a:pPr>
            <a:r>
              <a:t>• nové zdroje a use cases cez governance proces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68680" y="4800600"/>
            <a:ext cx="10378440" cy="822960"/>
          </a:xfrm>
          <a:prstGeom prst="roundRect">
            <a:avLst/>
          </a:prstGeom>
          <a:solidFill>
            <a:srgbClr val="F8FAFC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014983" y="4910328"/>
            <a:ext cx="10085832" cy="65836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defRPr sz="1350" b="1">
                <a:solidFill>
                  <a:srgbClr val="143053"/>
                </a:solidFill>
                <a:latin typeface="Arial"/>
              </a:defRPr>
            </a:pPr>
            <a:r>
              <a:t>Poznámka k harmonogramu</a:t>
            </a:r>
          </a:p>
          <a:p>
            <a:pPr>
              <a:spcAft>
                <a:spcPts val="2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Trvanie závisí od veľkosti tímu, počtu dátových zdrojov a integračnej zložitosti. Preto sú dôležitejšie exit kritériá ako pevné týždne.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73952"/>
            <a:ext cx="3196709" cy="35394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475569"/>
                </a:solidFill>
                <a:latin typeface="Arial"/>
              </a:defRPr>
            </a:pPr>
            <a:r>
              <a:rPr lang="en-US" dirty="0" err="1"/>
              <a:t>Interný</a:t>
            </a:r>
            <a:r>
              <a:rPr lang="en-US" dirty="0"/>
              <a:t> AI </a:t>
            </a:r>
            <a:r>
              <a:rPr lang="en-US" dirty="0" err="1"/>
              <a:t>asistent</a:t>
            </a:r>
            <a:r>
              <a:rPr lang="en-US" dirty="0"/>
              <a:t> – . </a:t>
            </a:r>
            <a:r>
              <a:rPr lang="en-US" dirty="0" err="1"/>
              <a:t>obhajoba</a:t>
            </a:r>
            <a:r>
              <a:rPr lang="en-US" dirty="0"/>
              <a:t> </a:t>
            </a:r>
            <a:r>
              <a:rPr lang="en-US" dirty="0" err="1"/>
              <a:t>riešenia</a:t>
            </a:r>
            <a:r>
              <a:rPr lang="en-US" dirty="0"/>
              <a:t>, Marek Matonok 2026</a:t>
            </a:r>
          </a:p>
          <a:p>
            <a:pPr algn="l">
              <a:defRPr sz="850">
                <a:solidFill>
                  <a:srgbClr val="475569"/>
                </a:solidFill>
                <a:latin typeface="Arial"/>
              </a:defRPr>
            </a:pPr>
            <a:endParaRPr dirty="0"/>
          </a:p>
        </p:txBody>
      </p:sp>
      <p:sp>
        <p:nvSpPr>
          <p:cNvPr id="24" name="TextBox 23"/>
          <p:cNvSpPr txBox="1"/>
          <p:nvPr/>
        </p:nvSpPr>
        <p:spPr>
          <a:xfrm>
            <a:off x="11064240" y="6473952"/>
            <a:ext cx="594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475569"/>
                </a:solidFill>
                <a:latin typeface="Arial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4099199" cy="49244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43053"/>
                </a:solidFill>
                <a:latin typeface="Arial"/>
              </a:defRPr>
            </a:pPr>
            <a:r>
              <a:rPr dirty="0"/>
              <a:t>9. </a:t>
            </a:r>
            <a:r>
              <a:rPr lang="en-US" dirty="0" err="1"/>
              <a:t>Produkcia</a:t>
            </a:r>
            <a:r>
              <a:rPr lang="en-US" dirty="0"/>
              <a:t> – Go/No Go</a:t>
            </a:r>
            <a:endParaRPr dirty="0"/>
          </a:p>
        </p:txBody>
      </p:sp>
      <p:sp>
        <p:nvSpPr>
          <p:cNvPr id="3" name="Rectangle 2"/>
          <p:cNvSpPr/>
          <p:nvPr/>
        </p:nvSpPr>
        <p:spPr>
          <a:xfrm>
            <a:off x="502920" y="1060704"/>
            <a:ext cx="11155680" cy="18288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1417320"/>
            <a:ext cx="5257800" cy="3794760"/>
          </a:xfrm>
          <a:prstGeom prst="roundRect">
            <a:avLst/>
          </a:prstGeom>
          <a:solidFill>
            <a:srgbClr val="FEE2E2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77824" y="1527048"/>
            <a:ext cx="4965192" cy="1364476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defRPr sz="1350" b="1">
                <a:solidFill>
                  <a:srgbClr val="DC2626"/>
                </a:solidFill>
                <a:latin typeface="Arial"/>
              </a:defRPr>
            </a:pPr>
            <a:r>
              <a:rPr lang="en-US" dirty="0" err="1"/>
              <a:t>Nenasadi</a:t>
            </a:r>
            <a:r>
              <a:rPr lang="sk-SK" dirty="0"/>
              <a:t>ť v prípade ak metrika indikuje</a:t>
            </a:r>
            <a:endParaRPr dirty="0"/>
          </a:p>
          <a:p>
            <a:pPr marL="285750" indent="-285750">
              <a:spcAft>
                <a:spcPts val="200"/>
              </a:spcAft>
              <a:buFont typeface="Arial" panose="020B0604020202020204" pitchFamily="34" charset="0"/>
              <a:buChar char="•"/>
              <a:defRPr sz="1250">
                <a:solidFill>
                  <a:srgbClr val="0F172A"/>
                </a:solidFill>
                <a:latin typeface="Arial"/>
              </a:defRPr>
            </a:pPr>
            <a:r>
              <a:rPr lang="en-US" dirty="0" err="1"/>
              <a:t>agentické</a:t>
            </a:r>
            <a:r>
              <a:rPr lang="en-US" dirty="0"/>
              <a:t> </a:t>
            </a:r>
            <a:r>
              <a:rPr lang="en-US" dirty="0" err="1"/>
              <a:t>volanie</a:t>
            </a:r>
            <a:r>
              <a:rPr lang="en-US" dirty="0"/>
              <a:t> </a:t>
            </a:r>
            <a:r>
              <a:rPr lang="en-US" dirty="0" err="1"/>
              <a:t>interných</a:t>
            </a:r>
            <a:r>
              <a:rPr lang="en-US" dirty="0"/>
              <a:t> </a:t>
            </a:r>
            <a:r>
              <a:rPr lang="en-US" dirty="0" err="1"/>
              <a:t>nástrojov</a:t>
            </a:r>
            <a:r>
              <a:rPr lang="en-US" dirty="0"/>
              <a:t> bez </a:t>
            </a:r>
            <a:r>
              <a:rPr lang="en-US" dirty="0" err="1"/>
              <a:t>vynútenej</a:t>
            </a:r>
            <a:r>
              <a:rPr lang="en-US" dirty="0"/>
              <a:t> </a:t>
            </a:r>
            <a:r>
              <a:rPr lang="en-US" dirty="0" err="1"/>
              <a:t>autorizácie</a:t>
            </a:r>
            <a:endParaRPr lang="en-US" dirty="0"/>
          </a:p>
          <a:p>
            <a:pPr marL="285750" indent="-285750">
              <a:spcAft>
                <a:spcPts val="200"/>
              </a:spcAft>
              <a:buFont typeface="Arial" panose="020B0604020202020204" pitchFamily="34" charset="0"/>
              <a:buChar char="•"/>
              <a:defRPr sz="1250">
                <a:solidFill>
                  <a:srgbClr val="0F172A"/>
                </a:solidFill>
                <a:latin typeface="Arial"/>
              </a:defRPr>
            </a:pPr>
            <a:r>
              <a:rPr lang="en-US" dirty="0"/>
              <a:t>RAG </a:t>
            </a:r>
            <a:r>
              <a:rPr lang="en-US" dirty="0" err="1"/>
              <a:t>nad</a:t>
            </a:r>
            <a:r>
              <a:rPr lang="en-US" dirty="0"/>
              <a:t> </a:t>
            </a:r>
            <a:r>
              <a:rPr lang="en-US" dirty="0" err="1"/>
              <a:t>citlivými</a:t>
            </a:r>
            <a:r>
              <a:rPr lang="en-US" dirty="0"/>
              <a:t> </a:t>
            </a:r>
            <a:r>
              <a:rPr lang="en-US" dirty="0" err="1"/>
              <a:t>dokumentmi</a:t>
            </a:r>
            <a:r>
              <a:rPr lang="en-US" dirty="0"/>
              <a:t> bez permission-aware </a:t>
            </a:r>
            <a:r>
              <a:rPr lang="en-US" dirty="0" err="1"/>
              <a:t>retrievalu</a:t>
            </a:r>
            <a:endParaRPr lang="en-US" dirty="0"/>
          </a:p>
          <a:p>
            <a:pPr marL="285750" indent="-285750">
              <a:spcAft>
                <a:spcPts val="200"/>
              </a:spcAft>
              <a:buFont typeface="Arial" panose="020B0604020202020204" pitchFamily="34" charset="0"/>
              <a:buChar char="•"/>
              <a:defRPr sz="1250">
                <a:solidFill>
                  <a:srgbClr val="0F172A"/>
                </a:solidFill>
                <a:latin typeface="Arial"/>
              </a:defRPr>
            </a:pPr>
            <a:r>
              <a:rPr lang="en-US" dirty="0" err="1"/>
              <a:t>odpovede</a:t>
            </a:r>
            <a:r>
              <a:rPr lang="en-US" dirty="0"/>
              <a:t> bez </a:t>
            </a:r>
            <a:r>
              <a:rPr lang="en-US" dirty="0" err="1"/>
              <a:t>overenia</a:t>
            </a:r>
            <a:r>
              <a:rPr lang="en-US" dirty="0"/>
              <a:t> </a:t>
            </a:r>
            <a:r>
              <a:rPr lang="en-US" dirty="0" err="1"/>
              <a:t>zdrojovej</a:t>
            </a:r>
            <a:r>
              <a:rPr lang="en-US" dirty="0"/>
              <a:t> </a:t>
            </a:r>
            <a:r>
              <a:rPr lang="en-US" dirty="0" err="1"/>
              <a:t>opory</a:t>
            </a:r>
            <a:endParaRPr lang="en-US" dirty="0"/>
          </a:p>
          <a:p>
            <a:pPr marL="285750" indent="-285750">
              <a:spcAft>
                <a:spcPts val="200"/>
              </a:spcAft>
              <a:buFont typeface="Arial" panose="020B0604020202020204" pitchFamily="34" charset="0"/>
              <a:buChar char="•"/>
              <a:defRPr sz="1250">
                <a:solidFill>
                  <a:srgbClr val="0F172A"/>
                </a:solidFill>
                <a:latin typeface="Arial"/>
              </a:defRPr>
            </a:pPr>
            <a:r>
              <a:rPr lang="en-US" dirty="0" err="1"/>
              <a:t>spracovanie</a:t>
            </a:r>
            <a:r>
              <a:rPr lang="en-US" dirty="0"/>
              <a:t> PII bez DLP/</a:t>
            </a:r>
            <a:r>
              <a:rPr lang="en-US" dirty="0" err="1"/>
              <a:t>redakcie</a:t>
            </a:r>
            <a:r>
              <a:rPr lang="en-US" dirty="0"/>
              <a:t> a </a:t>
            </a:r>
            <a:r>
              <a:rPr lang="en-US" dirty="0" err="1"/>
              <a:t>retenčných</a:t>
            </a:r>
            <a:r>
              <a:rPr lang="en-US" dirty="0"/>
              <a:t> </a:t>
            </a:r>
            <a:r>
              <a:rPr lang="en-US" dirty="0" err="1"/>
              <a:t>pravidiel</a:t>
            </a:r>
            <a:endParaRPr lang="en-US" dirty="0"/>
          </a:p>
          <a:p>
            <a:pPr marL="285750" indent="-285750">
              <a:spcAft>
                <a:spcPts val="200"/>
              </a:spcAft>
              <a:buFont typeface="Arial" panose="020B0604020202020204" pitchFamily="34" charset="0"/>
              <a:buChar char="•"/>
              <a:defRPr sz="1250">
                <a:solidFill>
                  <a:srgbClr val="0F172A"/>
                </a:solidFill>
                <a:latin typeface="Arial"/>
              </a:defRPr>
            </a:pPr>
            <a:r>
              <a:rPr lang="en-US" dirty="0"/>
              <a:t>model routing bez </a:t>
            </a:r>
            <a:r>
              <a:rPr lang="en-US" dirty="0" err="1"/>
              <a:t>dátovej</a:t>
            </a:r>
            <a:r>
              <a:rPr lang="en-US" dirty="0"/>
              <a:t> </a:t>
            </a:r>
            <a:r>
              <a:rPr lang="en-US" dirty="0" err="1"/>
              <a:t>klasifikácie</a:t>
            </a:r>
            <a:r>
              <a:rPr lang="en-US" dirty="0"/>
              <a:t> a </a:t>
            </a:r>
            <a:r>
              <a:rPr lang="en-US" dirty="0" err="1"/>
              <a:t>schválenej</a:t>
            </a:r>
            <a:r>
              <a:rPr lang="en-US" dirty="0"/>
              <a:t> </a:t>
            </a:r>
            <a:r>
              <a:rPr lang="en-US" dirty="0" err="1"/>
              <a:t>politiky</a:t>
            </a:r>
            <a:endParaRPr dirty="0"/>
          </a:p>
        </p:txBody>
      </p:sp>
      <p:sp>
        <p:nvSpPr>
          <p:cNvPr id="6" name="Rounded Rectangle 5"/>
          <p:cNvSpPr/>
          <p:nvPr/>
        </p:nvSpPr>
        <p:spPr>
          <a:xfrm>
            <a:off x="6263640" y="1417320"/>
            <a:ext cx="5257800" cy="3794760"/>
          </a:xfrm>
          <a:prstGeom prst="roundRect">
            <a:avLst/>
          </a:prstGeom>
          <a:solidFill>
            <a:srgbClr val="DCFCE7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9944" y="1527048"/>
            <a:ext cx="4965192" cy="363016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defRPr sz="1350" b="1">
                <a:solidFill>
                  <a:srgbClr val="16A34A"/>
                </a:solidFill>
                <a:latin typeface="Arial"/>
              </a:defRPr>
            </a:pPr>
            <a:r>
              <a:t>Pred produkciou overiť</a:t>
            </a:r>
          </a:p>
          <a:p>
            <a:pPr>
              <a:spcAft>
                <a:spcPts val="2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negatívne testy oprávnení</a:t>
            </a:r>
          </a:p>
          <a:p>
            <a:pPr>
              <a:spcAft>
                <a:spcPts val="2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prompt injection testy</a:t>
            </a:r>
          </a:p>
          <a:p>
            <a:pPr>
              <a:spcAft>
                <a:spcPts val="2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groundedness a eval dataset</a:t>
            </a:r>
          </a:p>
          <a:p>
            <a:pPr>
              <a:spcAft>
                <a:spcPts val="2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DLP/PII leakage testy</a:t>
            </a:r>
          </a:p>
          <a:p>
            <a:pPr>
              <a:spcAft>
                <a:spcPts val="2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auditovateľnosť end-to-end</a:t>
            </a:r>
          </a:p>
          <a:p>
            <a:pPr>
              <a:spcAft>
                <a:spcPts val="2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pilotné metriky a go/no-go report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60120" y="5623560"/>
            <a:ext cx="10287000" cy="502920"/>
          </a:xfrm>
          <a:prstGeom prst="roundRect">
            <a:avLst/>
          </a:prstGeom>
          <a:solidFill>
            <a:srgbClr val="143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Finálny záver: AI má zrýchliť a zlepšiť prácu, ale zodpovednosť, kontrola a rozhodnutie ostávajú na človeku.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3196709" cy="35394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475569"/>
                </a:solidFill>
                <a:latin typeface="Arial"/>
              </a:defRPr>
            </a:pPr>
            <a:r>
              <a:rPr lang="en-US" dirty="0" err="1"/>
              <a:t>Interný</a:t>
            </a:r>
            <a:r>
              <a:rPr lang="en-US" dirty="0"/>
              <a:t> AI </a:t>
            </a:r>
            <a:r>
              <a:rPr lang="en-US" dirty="0" err="1"/>
              <a:t>asistent</a:t>
            </a:r>
            <a:r>
              <a:rPr lang="en-US" dirty="0"/>
              <a:t> – . </a:t>
            </a:r>
            <a:r>
              <a:rPr lang="en-US" dirty="0" err="1"/>
              <a:t>obhajoba</a:t>
            </a:r>
            <a:r>
              <a:rPr lang="en-US" dirty="0"/>
              <a:t> </a:t>
            </a:r>
            <a:r>
              <a:rPr lang="en-US" dirty="0" err="1"/>
              <a:t>riešenia</a:t>
            </a:r>
            <a:r>
              <a:rPr lang="en-US" dirty="0"/>
              <a:t>, Marek Matonok 2026</a:t>
            </a:r>
          </a:p>
          <a:p>
            <a:pPr algn="l">
              <a:defRPr sz="850">
                <a:solidFill>
                  <a:srgbClr val="475569"/>
                </a:solidFill>
                <a:latin typeface="Arial"/>
              </a:defRPr>
            </a:pPr>
            <a:endParaRPr dirty="0"/>
          </a:p>
        </p:txBody>
      </p:sp>
      <p:sp>
        <p:nvSpPr>
          <p:cNvPr id="10" name="TextBox 9"/>
          <p:cNvSpPr txBox="1"/>
          <p:nvPr/>
        </p:nvSpPr>
        <p:spPr>
          <a:xfrm>
            <a:off x="11064240" y="6473952"/>
            <a:ext cx="594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475569"/>
                </a:solidFill>
                <a:latin typeface="Arial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26</TotalTime>
  <Words>1165</Words>
  <Application>Microsoft Office PowerPoint</Application>
  <PresentationFormat>Widescreen</PresentationFormat>
  <Paragraphs>215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mmatonok-elkjop.no</dc:creator>
  <cp:keywords/>
  <dc:description>generated using python-pptx</dc:description>
  <cp:lastModifiedBy>Marek Matonok</cp:lastModifiedBy>
  <cp:revision>10</cp:revision>
  <dcterms:created xsi:type="dcterms:W3CDTF">2013-01-27T09:14:16Z</dcterms:created>
  <dcterms:modified xsi:type="dcterms:W3CDTF">2026-05-24T19:56:03Z</dcterms:modified>
  <cp:category/>
</cp:coreProperties>
</file>